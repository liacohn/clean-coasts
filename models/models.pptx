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5" r:id="rId3"/>
    <p:sldId id="274" r:id="rId4"/>
    <p:sldId id="264" r:id="rId5"/>
    <p:sldId id="257" r:id="rId6"/>
    <p:sldId id="261" r:id="rId7"/>
    <p:sldId id="262" r:id="rId8"/>
    <p:sldId id="265" r:id="rId9"/>
    <p:sldId id="266" r:id="rId10"/>
    <p:sldId id="267" r:id="rId11"/>
    <p:sldId id="268" r:id="rId12"/>
    <p:sldId id="269" r:id="rId13"/>
    <p:sldId id="258" r:id="rId14"/>
    <p:sldId id="260" r:id="rId15"/>
    <p:sldId id="270" r:id="rId16"/>
    <p:sldId id="271" r:id="rId17"/>
    <p:sldId id="272" r:id="rId18"/>
    <p:sldId id="259" r:id="rId19"/>
    <p:sldId id="273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5" d="100"/>
          <a:sy n="65" d="100"/>
        </p:scale>
        <p:origin x="168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53369F-0137-071E-266F-32015224AD2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79FC021-1F65-62E1-11A2-609AB5EFDD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41A268-7C9C-E6A1-37DB-3CC727C88C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76E711-0D29-49A5-9CED-93AB08EA2C6C}" type="datetimeFigureOut">
              <a:rPr lang="en-US" smtClean="0"/>
              <a:t>12/28/2023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6B41A5-1161-6994-8061-28595D9B4F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D437D6-CAC1-F1AD-272C-DA6CC4E437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F41E7D-2B68-446F-A126-E9AC63EB7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46651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2586BA-5A5E-8ECD-14EB-7D35FCEE53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953132-86B5-554C-E5A8-188CE5D2AB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0E294B-3EB5-2699-9F4F-A23AE44029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76E711-0D29-49A5-9CED-93AB08EA2C6C}" type="datetimeFigureOut">
              <a:rPr lang="en-US" smtClean="0"/>
              <a:t>12/28/2023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71B18C-CFAD-2AE0-9997-2D8FE6289C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CC747C-6A9B-9DB2-596D-04ABF62A1B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F41E7D-2B68-446F-A126-E9AC63EB7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58608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9FC5CE-12F5-CDB1-4DD7-F17D048E0B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4A8DDA-4746-FABD-4A1A-01509346F3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1BC1CF-646F-0D35-9C64-34D5E32FCB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76E711-0D29-49A5-9CED-93AB08EA2C6C}" type="datetimeFigureOut">
              <a:rPr lang="en-US" smtClean="0"/>
              <a:t>12/28/2023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F5DE9A-D549-3F73-E143-4980D04A3B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C9508D-E187-537B-EEC9-9993E2AD36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F41E7D-2B68-446F-A126-E9AC63EB7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63362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A3AE9E-DFD6-ACFD-057E-66FBE772A5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282C9F-9F6E-6794-0ED2-5D836079D0E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5F4C07-0A26-6C27-187B-62F91BF396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BD24E17-04A2-2365-AB54-354EB8477B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76E711-0D29-49A5-9CED-93AB08EA2C6C}" type="datetimeFigureOut">
              <a:rPr lang="en-US" smtClean="0"/>
              <a:t>12/28/2023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92B989-4F8B-7BFB-41CF-599E051AF5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A399D6-0554-A383-12AF-A316E811C2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F41E7D-2B68-446F-A126-E9AC63EB7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92667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CAE183-2815-A908-EB9B-ACD1CFABBB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BD4B1B-AC91-37F5-731A-C112189DD5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80FD20-7DD0-96CE-1CAC-0551097627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666E5FF-7101-EA79-09ED-B44809A643A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C6D0380-4077-AFC3-BF23-1240C4385B9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354BC1E-ABF6-0586-3655-FD73F29248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76E711-0D29-49A5-9CED-93AB08EA2C6C}" type="datetimeFigureOut">
              <a:rPr lang="en-US" smtClean="0"/>
              <a:t>12/28/2023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F3A98C1-E81B-1E4A-1F31-89F3AE991C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30C9E8D-4148-820E-57D5-512DAB88C9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F41E7D-2B68-446F-A126-E9AC63EB7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93165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9B8DDB-45E8-1C53-CBD3-DCB5ED480D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724725-7BC9-6ACB-A4AD-B6F66A4553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76E711-0D29-49A5-9CED-93AB08EA2C6C}" type="datetimeFigureOut">
              <a:rPr lang="en-US" smtClean="0"/>
              <a:t>12/28/2023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FB0CE0D-C4F0-22A7-0358-F6E519E951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FF8B287-6612-0403-BED0-D3C1A9B2A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F41E7D-2B68-446F-A126-E9AC63EB7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26615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0191DB2-E802-7AFC-B7EA-FA5B5E65FB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76E711-0D29-49A5-9CED-93AB08EA2C6C}" type="datetimeFigureOut">
              <a:rPr lang="en-US" smtClean="0"/>
              <a:t>12/28/2023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D2FBA1B-31EF-379D-9AE8-2774463BAE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2A3671-37C9-B54C-455A-766EDB67AB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F41E7D-2B68-446F-A126-E9AC63EB7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32162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0039D9-817B-81F9-C229-88239E916B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6F73C9-DF23-4BC6-E06B-1DFCABA77A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39E1EA-8C15-0835-3CC7-131B50BAD4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8C33D11-9AC0-BF27-0BEE-778DC7462D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76E711-0D29-49A5-9CED-93AB08EA2C6C}" type="datetimeFigureOut">
              <a:rPr lang="en-US" smtClean="0"/>
              <a:t>12/28/2023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30CC39-BBB0-EBBF-A601-895AF13C5B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F28F213-EE87-D9EC-8158-04FC679849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F41E7D-2B68-446F-A126-E9AC63EB7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00876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3D373B-F9B1-BEC9-2A40-91695E13C1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07B584A-91AD-7B69-B1D6-361D650406A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8EE6777-1476-3961-752C-8C934EEAC7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DA48A42-F4E2-4CC5-1E97-2E3413CA1D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76E711-0D29-49A5-9CED-93AB08EA2C6C}" type="datetimeFigureOut">
              <a:rPr lang="en-US" smtClean="0"/>
              <a:t>12/28/2023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E010B1-22E2-F9E9-ED35-5AB1C3B73E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A6D36D1-7831-1DC8-E6C7-D27C6A6B93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F41E7D-2B68-446F-A126-E9AC63EB7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02236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376668-9D3A-D061-A3BF-FD741F1004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5F94D26-4C59-9EB0-13F8-EAA6025BCF9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A3DC48-EEB1-87AC-F2AD-04B375770E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76E711-0D29-49A5-9CED-93AB08EA2C6C}" type="datetimeFigureOut">
              <a:rPr lang="en-US" smtClean="0"/>
              <a:t>12/28/2023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6217C4-AFB6-0C7F-027E-EFA8A99852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60A182-D752-25FA-2646-B36F40AB8C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F41E7D-2B68-446F-A126-E9AC63EB7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71139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E8B44D1-11BA-CAC5-75F7-0E456414D87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69E019B-EB60-C2C0-DBFB-6ABCFD97F37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A3AAFA-F124-7432-0142-F31C482F36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76E711-0D29-49A5-9CED-93AB08EA2C6C}" type="datetimeFigureOut">
              <a:rPr lang="en-US" smtClean="0"/>
              <a:t>12/28/2023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77BC06-1239-DA51-DCEC-D126DAB53C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1E5F35-43A9-465F-1F8F-9D632DE5AE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F41E7D-2B68-446F-A126-E9AC63EB7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42866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03597EA-8190-9BD3-1712-8D69C2D588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0E4596-6FEE-C781-FF86-ED394E98E5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FE0631-8DD1-8457-0764-E85C1F2DA7C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76E711-0D29-49A5-9CED-93AB08EA2C6C}" type="datetimeFigureOut">
              <a:rPr lang="en-US" smtClean="0"/>
              <a:t>12/28/2023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C574E4-2B78-217C-C6F8-38D6BEBC40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19EDBA-13E0-6F83-52B7-9B09FDE5FE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7F41E7D-2B68-446F-A126-E9AC63EB7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45073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43E242-3DBB-C524-0D85-7485658AEC2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Statistics</a:t>
            </a:r>
          </a:p>
        </p:txBody>
      </p:sp>
    </p:spTree>
    <p:extLst>
      <p:ext uri="{BB962C8B-B14F-4D97-AF65-F5344CB8AC3E}">
        <p14:creationId xmlns:p14="http://schemas.microsoft.com/office/powerpoint/2010/main" val="41615598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665DBBEF-238B-476B-96AB-8AAC3224EC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B3D301-2AA8-8A0B-B951-086DF46995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2" y="639193"/>
            <a:ext cx="3571810" cy="3573516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% of the coasts that are clean over 70% of the time </a:t>
            </a: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3FCFB1DE-0B7E-48CC-BA90-B2AB0889F9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4409267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B11858F-17F2-686A-7B47-6D3CB71863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4296" y="1395191"/>
            <a:ext cx="7214616" cy="40401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36662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43E242-3DBB-C524-0D85-7485658AEC2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Models Summary</a:t>
            </a:r>
          </a:p>
        </p:txBody>
      </p:sp>
    </p:spTree>
    <p:extLst>
      <p:ext uri="{BB962C8B-B14F-4D97-AF65-F5344CB8AC3E}">
        <p14:creationId xmlns:p14="http://schemas.microsoft.com/office/powerpoint/2010/main" val="35000715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43E242-3DBB-C524-0D85-7485658AEC2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MLR – summer model</a:t>
            </a:r>
          </a:p>
        </p:txBody>
      </p:sp>
    </p:spTree>
    <p:extLst>
      <p:ext uri="{BB962C8B-B14F-4D97-AF65-F5344CB8AC3E}">
        <p14:creationId xmlns:p14="http://schemas.microsoft.com/office/powerpoint/2010/main" val="19680290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11D395-FA6C-11E3-EDF7-C55A253A74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MLR (with feature selection)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267A53A-262A-7C59-61F2-3A0E58636A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8881" y="1809541"/>
            <a:ext cx="10909643" cy="68740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indent="0" algn="ctr">
              <a:buNone/>
            </a:pPr>
            <a:r>
              <a:rPr lang="en-US" sz="22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Chose a random K (=9) as different K values didn’t make such a difference in the results.</a:t>
            </a:r>
          </a:p>
        </p:txBody>
      </p:sp>
      <p:sp>
        <p:nvSpPr>
          <p:cNvPr id="16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onnsiteX0" fmla="*/ 0 w 4572000"/>
              <a:gd name="connsiteY0" fmla="*/ 0 h 18288"/>
              <a:gd name="connsiteX1" fmla="*/ 515983 w 4572000"/>
              <a:gd name="connsiteY1" fmla="*/ 0 h 18288"/>
              <a:gd name="connsiteX2" fmla="*/ 1031966 w 4572000"/>
              <a:gd name="connsiteY2" fmla="*/ 0 h 18288"/>
              <a:gd name="connsiteX3" fmla="*/ 1639389 w 4572000"/>
              <a:gd name="connsiteY3" fmla="*/ 0 h 18288"/>
              <a:gd name="connsiteX4" fmla="*/ 2383971 w 4572000"/>
              <a:gd name="connsiteY4" fmla="*/ 0 h 18288"/>
              <a:gd name="connsiteX5" fmla="*/ 2945674 w 4572000"/>
              <a:gd name="connsiteY5" fmla="*/ 0 h 18288"/>
              <a:gd name="connsiteX6" fmla="*/ 3507377 w 4572000"/>
              <a:gd name="connsiteY6" fmla="*/ 0 h 18288"/>
              <a:gd name="connsiteX7" fmla="*/ 4572000 w 4572000"/>
              <a:gd name="connsiteY7" fmla="*/ 0 h 18288"/>
              <a:gd name="connsiteX8" fmla="*/ 4572000 w 4572000"/>
              <a:gd name="connsiteY8" fmla="*/ 18288 h 18288"/>
              <a:gd name="connsiteX9" fmla="*/ 3873137 w 4572000"/>
              <a:gd name="connsiteY9" fmla="*/ 18288 h 18288"/>
              <a:gd name="connsiteX10" fmla="*/ 3311434 w 4572000"/>
              <a:gd name="connsiteY10" fmla="*/ 18288 h 18288"/>
              <a:gd name="connsiteX11" fmla="*/ 2749731 w 4572000"/>
              <a:gd name="connsiteY11" fmla="*/ 18288 h 18288"/>
              <a:gd name="connsiteX12" fmla="*/ 2050869 w 4572000"/>
              <a:gd name="connsiteY12" fmla="*/ 18288 h 18288"/>
              <a:gd name="connsiteX13" fmla="*/ 1306286 w 4572000"/>
              <a:gd name="connsiteY13" fmla="*/ 18288 h 18288"/>
              <a:gd name="connsiteX14" fmla="*/ 790303 w 4572000"/>
              <a:gd name="connsiteY14" fmla="*/ 18288 h 18288"/>
              <a:gd name="connsiteX15" fmla="*/ 0 w 4572000"/>
              <a:gd name="connsiteY15" fmla="*/ 18288 h 18288"/>
              <a:gd name="connsiteX16" fmla="*/ 0 w 457200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B0A006C-D5E4-8C8F-8A7B-716EE0796B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9795780"/>
              </p:ext>
            </p:extLst>
          </p:nvPr>
        </p:nvGraphicFramePr>
        <p:xfrm>
          <a:off x="806032" y="2633472"/>
          <a:ext cx="10576889" cy="3586355"/>
        </p:xfrm>
        <a:graphic>
          <a:graphicData uri="http://schemas.openxmlformats.org/drawingml/2006/table">
            <a:tbl>
              <a:tblPr firstRow="1" bandRow="1">
                <a:noFill/>
                <a:tableStyleId>{5C22544A-7EE6-4342-B048-85BDC9FD1C3A}</a:tableStyleId>
              </a:tblPr>
              <a:tblGrid>
                <a:gridCol w="1380863">
                  <a:extLst>
                    <a:ext uri="{9D8B030D-6E8A-4147-A177-3AD203B41FA5}">
                      <a16:colId xmlns:a16="http://schemas.microsoft.com/office/drawing/2014/main" val="3374051117"/>
                    </a:ext>
                  </a:extLst>
                </a:gridCol>
                <a:gridCol w="4598013">
                  <a:extLst>
                    <a:ext uri="{9D8B030D-6E8A-4147-A177-3AD203B41FA5}">
                      <a16:colId xmlns:a16="http://schemas.microsoft.com/office/drawing/2014/main" val="1171289285"/>
                    </a:ext>
                  </a:extLst>
                </a:gridCol>
                <a:gridCol w="4598013">
                  <a:extLst>
                    <a:ext uri="{9D8B030D-6E8A-4147-A177-3AD203B41FA5}">
                      <a16:colId xmlns:a16="http://schemas.microsoft.com/office/drawing/2014/main" val="3178643292"/>
                    </a:ext>
                  </a:extLst>
                </a:gridCol>
              </a:tblGrid>
              <a:tr h="995777">
                <a:tc>
                  <a:txBody>
                    <a:bodyPr/>
                    <a:lstStyle/>
                    <a:p>
                      <a:endParaRPr lang="en-US" sz="4100" b="0" cap="none" spc="0">
                        <a:solidFill>
                          <a:schemeClr val="tx1"/>
                        </a:solidFill>
                      </a:endParaRPr>
                    </a:p>
                  </a:txBody>
                  <a:tcPr marL="0" marR="233385" marT="46677" marB="233385" anchor="b"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4100" b="0" cap="none" spc="0" dirty="0">
                          <a:solidFill>
                            <a:schemeClr val="tx1"/>
                          </a:solidFill>
                        </a:rPr>
                        <a:t>Train</a:t>
                      </a:r>
                    </a:p>
                  </a:txBody>
                  <a:tcPr marL="0" marR="233385" marT="46677" marB="233385" anchor="b"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4100" b="0" cap="none" spc="0">
                          <a:solidFill>
                            <a:schemeClr val="tx1"/>
                          </a:solidFill>
                        </a:rPr>
                        <a:t>Test</a:t>
                      </a:r>
                    </a:p>
                  </a:txBody>
                  <a:tcPr marL="0" marR="233385" marT="46677" marB="233385" anchor="b"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5545069"/>
                  </a:ext>
                </a:extLst>
              </a:tr>
              <a:tr h="863526">
                <a:tc>
                  <a:txBody>
                    <a:bodyPr/>
                    <a:lstStyle/>
                    <a:p>
                      <a:r>
                        <a:rPr lang="en-US" sz="3100" cap="none" spc="0" dirty="0" err="1">
                          <a:solidFill>
                            <a:schemeClr val="tx1"/>
                          </a:solidFill>
                        </a:rPr>
                        <a:t>rmse</a:t>
                      </a:r>
                      <a:endParaRPr lang="en-US" sz="31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233385" marT="70016" marB="23338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0.9500457653649235</a:t>
                      </a:r>
                      <a:endParaRPr lang="en-US" sz="32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233385" marT="70016" marB="23338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0.9520112080595717</a:t>
                      </a:r>
                      <a:endParaRPr lang="en-US" sz="32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233385" marT="70016" marB="23338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561925"/>
                  </a:ext>
                </a:extLst>
              </a:tr>
              <a:tr h="863526">
                <a:tc>
                  <a:txBody>
                    <a:bodyPr/>
                    <a:lstStyle/>
                    <a:p>
                      <a:r>
                        <a:rPr lang="en-US" sz="3100" cap="none" spc="0">
                          <a:solidFill>
                            <a:schemeClr val="tx1"/>
                          </a:solidFill>
                        </a:rPr>
                        <a:t>std</a:t>
                      </a:r>
                    </a:p>
                  </a:txBody>
                  <a:tcPr marL="0" marR="233385" marT="70016" marB="23338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0.9780237129566693</a:t>
                      </a:r>
                      <a:endParaRPr lang="en-US" sz="32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233385" marT="70016" marB="23338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0.9797243785774478</a:t>
                      </a:r>
                      <a:endParaRPr lang="en-US" sz="32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233385" marT="70016" marB="23338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8550116"/>
                  </a:ext>
                </a:extLst>
              </a:tr>
              <a:tr h="863526">
                <a:tc>
                  <a:txBody>
                    <a:bodyPr/>
                    <a:lstStyle/>
                    <a:p>
                      <a:r>
                        <a:rPr lang="en-US" sz="3100" cap="none" spc="0">
                          <a:solidFill>
                            <a:schemeClr val="tx1"/>
                          </a:solidFill>
                        </a:rPr>
                        <a:t>r2</a:t>
                      </a:r>
                    </a:p>
                  </a:txBody>
                  <a:tcPr marL="0" marR="233385" marT="70016" marB="23338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0.05639390837237576</a:t>
                      </a:r>
                      <a:endParaRPr lang="en-US" sz="32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233385" marT="70016" marB="23338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0.05575804534545507</a:t>
                      </a:r>
                      <a:endParaRPr lang="en-US" sz="32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233385" marT="70016" marB="23338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223045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754060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11D395-FA6C-11E3-EDF7-C55A253A74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MLR (with feature selection)</a:t>
            </a:r>
          </a:p>
        </p:txBody>
      </p:sp>
      <p:sp>
        <p:nvSpPr>
          <p:cNvPr id="16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onnsiteX0" fmla="*/ 0 w 4572000"/>
              <a:gd name="connsiteY0" fmla="*/ 0 h 18288"/>
              <a:gd name="connsiteX1" fmla="*/ 515983 w 4572000"/>
              <a:gd name="connsiteY1" fmla="*/ 0 h 18288"/>
              <a:gd name="connsiteX2" fmla="*/ 1031966 w 4572000"/>
              <a:gd name="connsiteY2" fmla="*/ 0 h 18288"/>
              <a:gd name="connsiteX3" fmla="*/ 1639389 w 4572000"/>
              <a:gd name="connsiteY3" fmla="*/ 0 h 18288"/>
              <a:gd name="connsiteX4" fmla="*/ 2383971 w 4572000"/>
              <a:gd name="connsiteY4" fmla="*/ 0 h 18288"/>
              <a:gd name="connsiteX5" fmla="*/ 2945674 w 4572000"/>
              <a:gd name="connsiteY5" fmla="*/ 0 h 18288"/>
              <a:gd name="connsiteX6" fmla="*/ 3507377 w 4572000"/>
              <a:gd name="connsiteY6" fmla="*/ 0 h 18288"/>
              <a:gd name="connsiteX7" fmla="*/ 4572000 w 4572000"/>
              <a:gd name="connsiteY7" fmla="*/ 0 h 18288"/>
              <a:gd name="connsiteX8" fmla="*/ 4572000 w 4572000"/>
              <a:gd name="connsiteY8" fmla="*/ 18288 h 18288"/>
              <a:gd name="connsiteX9" fmla="*/ 3873137 w 4572000"/>
              <a:gd name="connsiteY9" fmla="*/ 18288 h 18288"/>
              <a:gd name="connsiteX10" fmla="*/ 3311434 w 4572000"/>
              <a:gd name="connsiteY10" fmla="*/ 18288 h 18288"/>
              <a:gd name="connsiteX11" fmla="*/ 2749731 w 4572000"/>
              <a:gd name="connsiteY11" fmla="*/ 18288 h 18288"/>
              <a:gd name="connsiteX12" fmla="*/ 2050869 w 4572000"/>
              <a:gd name="connsiteY12" fmla="*/ 18288 h 18288"/>
              <a:gd name="connsiteX13" fmla="*/ 1306286 w 4572000"/>
              <a:gd name="connsiteY13" fmla="*/ 18288 h 18288"/>
              <a:gd name="connsiteX14" fmla="*/ 790303 w 4572000"/>
              <a:gd name="connsiteY14" fmla="*/ 18288 h 18288"/>
              <a:gd name="connsiteX15" fmla="*/ 0 w 4572000"/>
              <a:gd name="connsiteY15" fmla="*/ 18288 h 18288"/>
              <a:gd name="connsiteX16" fmla="*/ 0 w 457200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628F08C-D50E-FCC5-30CE-18C1042614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0715" y="2084546"/>
            <a:ext cx="8370570" cy="46820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78313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11D395-FA6C-11E3-EDF7-C55A253A74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MLR Coefficients</a:t>
            </a:r>
          </a:p>
        </p:txBody>
      </p:sp>
      <p:sp>
        <p:nvSpPr>
          <p:cNvPr id="16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onnsiteX0" fmla="*/ 0 w 4572000"/>
              <a:gd name="connsiteY0" fmla="*/ 0 h 18288"/>
              <a:gd name="connsiteX1" fmla="*/ 515983 w 4572000"/>
              <a:gd name="connsiteY1" fmla="*/ 0 h 18288"/>
              <a:gd name="connsiteX2" fmla="*/ 1031966 w 4572000"/>
              <a:gd name="connsiteY2" fmla="*/ 0 h 18288"/>
              <a:gd name="connsiteX3" fmla="*/ 1639389 w 4572000"/>
              <a:gd name="connsiteY3" fmla="*/ 0 h 18288"/>
              <a:gd name="connsiteX4" fmla="*/ 2383971 w 4572000"/>
              <a:gd name="connsiteY4" fmla="*/ 0 h 18288"/>
              <a:gd name="connsiteX5" fmla="*/ 2945674 w 4572000"/>
              <a:gd name="connsiteY5" fmla="*/ 0 h 18288"/>
              <a:gd name="connsiteX6" fmla="*/ 3507377 w 4572000"/>
              <a:gd name="connsiteY6" fmla="*/ 0 h 18288"/>
              <a:gd name="connsiteX7" fmla="*/ 4572000 w 4572000"/>
              <a:gd name="connsiteY7" fmla="*/ 0 h 18288"/>
              <a:gd name="connsiteX8" fmla="*/ 4572000 w 4572000"/>
              <a:gd name="connsiteY8" fmla="*/ 18288 h 18288"/>
              <a:gd name="connsiteX9" fmla="*/ 3873137 w 4572000"/>
              <a:gd name="connsiteY9" fmla="*/ 18288 h 18288"/>
              <a:gd name="connsiteX10" fmla="*/ 3311434 w 4572000"/>
              <a:gd name="connsiteY10" fmla="*/ 18288 h 18288"/>
              <a:gd name="connsiteX11" fmla="*/ 2749731 w 4572000"/>
              <a:gd name="connsiteY11" fmla="*/ 18288 h 18288"/>
              <a:gd name="connsiteX12" fmla="*/ 2050869 w 4572000"/>
              <a:gd name="connsiteY12" fmla="*/ 18288 h 18288"/>
              <a:gd name="connsiteX13" fmla="*/ 1306286 w 4572000"/>
              <a:gd name="connsiteY13" fmla="*/ 18288 h 18288"/>
              <a:gd name="connsiteX14" fmla="*/ 790303 w 4572000"/>
              <a:gd name="connsiteY14" fmla="*/ 18288 h 18288"/>
              <a:gd name="connsiteX15" fmla="*/ 0 w 4572000"/>
              <a:gd name="connsiteY15" fmla="*/ 18288 h 18288"/>
              <a:gd name="connsiteX16" fmla="*/ 0 w 457200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C8E4EDB-623C-D6AC-E3DC-B8C2910BA1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1718" y="1910477"/>
            <a:ext cx="7548563" cy="47631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27415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43E242-3DBB-C524-0D85-7485658AEC2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MLR – winter model</a:t>
            </a:r>
          </a:p>
        </p:txBody>
      </p:sp>
    </p:spTree>
    <p:extLst>
      <p:ext uri="{BB962C8B-B14F-4D97-AF65-F5344CB8AC3E}">
        <p14:creationId xmlns:p14="http://schemas.microsoft.com/office/powerpoint/2010/main" val="11844818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11D395-FA6C-11E3-EDF7-C55A253A74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MLR (with feature selection)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B0A006C-D5E4-8C8F-8A7B-716EE0796B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3471684"/>
              </p:ext>
            </p:extLst>
          </p:nvPr>
        </p:nvGraphicFramePr>
        <p:xfrm>
          <a:off x="806032" y="2633472"/>
          <a:ext cx="10576889" cy="3586355"/>
        </p:xfrm>
        <a:graphic>
          <a:graphicData uri="http://schemas.openxmlformats.org/drawingml/2006/table">
            <a:tbl>
              <a:tblPr firstRow="1" bandRow="1">
                <a:noFill/>
                <a:tableStyleId>{5C22544A-7EE6-4342-B048-85BDC9FD1C3A}</a:tableStyleId>
              </a:tblPr>
              <a:tblGrid>
                <a:gridCol w="1380863">
                  <a:extLst>
                    <a:ext uri="{9D8B030D-6E8A-4147-A177-3AD203B41FA5}">
                      <a16:colId xmlns:a16="http://schemas.microsoft.com/office/drawing/2014/main" val="3374051117"/>
                    </a:ext>
                  </a:extLst>
                </a:gridCol>
                <a:gridCol w="4598013">
                  <a:extLst>
                    <a:ext uri="{9D8B030D-6E8A-4147-A177-3AD203B41FA5}">
                      <a16:colId xmlns:a16="http://schemas.microsoft.com/office/drawing/2014/main" val="1171289285"/>
                    </a:ext>
                  </a:extLst>
                </a:gridCol>
                <a:gridCol w="4598013">
                  <a:extLst>
                    <a:ext uri="{9D8B030D-6E8A-4147-A177-3AD203B41FA5}">
                      <a16:colId xmlns:a16="http://schemas.microsoft.com/office/drawing/2014/main" val="3178643292"/>
                    </a:ext>
                  </a:extLst>
                </a:gridCol>
              </a:tblGrid>
              <a:tr h="995777">
                <a:tc>
                  <a:txBody>
                    <a:bodyPr/>
                    <a:lstStyle/>
                    <a:p>
                      <a:endParaRPr lang="en-US" sz="4100" b="0" cap="none" spc="0">
                        <a:solidFill>
                          <a:schemeClr val="tx1"/>
                        </a:solidFill>
                      </a:endParaRPr>
                    </a:p>
                  </a:txBody>
                  <a:tcPr marL="0" marR="233385" marT="46677" marB="233385" anchor="b"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4100" b="0" cap="none" spc="0" dirty="0">
                          <a:solidFill>
                            <a:schemeClr val="tx1"/>
                          </a:solidFill>
                        </a:rPr>
                        <a:t>Train</a:t>
                      </a:r>
                    </a:p>
                  </a:txBody>
                  <a:tcPr marL="0" marR="233385" marT="46677" marB="233385" anchor="b"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4100" b="0" cap="none" spc="0" dirty="0">
                          <a:solidFill>
                            <a:schemeClr val="tx1"/>
                          </a:solidFill>
                        </a:rPr>
                        <a:t>Test</a:t>
                      </a:r>
                    </a:p>
                  </a:txBody>
                  <a:tcPr marL="0" marR="233385" marT="46677" marB="233385" anchor="b"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5545069"/>
                  </a:ext>
                </a:extLst>
              </a:tr>
              <a:tr h="863526">
                <a:tc>
                  <a:txBody>
                    <a:bodyPr/>
                    <a:lstStyle/>
                    <a:p>
                      <a:r>
                        <a:rPr lang="en-US" sz="3100" cap="none" spc="0" dirty="0" err="1">
                          <a:solidFill>
                            <a:schemeClr val="tx1"/>
                          </a:solidFill>
                        </a:rPr>
                        <a:t>rmse</a:t>
                      </a:r>
                      <a:endParaRPr lang="en-US" sz="31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233385" marT="70016" marB="23338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0.990580865929362</a:t>
                      </a:r>
                      <a:endParaRPr lang="en-US" sz="32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233385" marT="70016" marB="23338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0.9941462167544672</a:t>
                      </a:r>
                      <a:endParaRPr lang="en-US" sz="32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233385" marT="70016" marB="23338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561925"/>
                  </a:ext>
                </a:extLst>
              </a:tr>
              <a:tr h="863526">
                <a:tc>
                  <a:txBody>
                    <a:bodyPr/>
                    <a:lstStyle/>
                    <a:p>
                      <a:r>
                        <a:rPr lang="en-US" sz="3100" cap="none" spc="0">
                          <a:solidFill>
                            <a:schemeClr val="tx1"/>
                          </a:solidFill>
                        </a:rPr>
                        <a:t>std</a:t>
                      </a:r>
                    </a:p>
                  </a:txBody>
                  <a:tcPr marL="0" marR="233385" marT="70016" marB="23338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1.0170505833573127</a:t>
                      </a:r>
                      <a:endParaRPr lang="en-US" sz="32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233385" marT="70016" marB="23338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1.017204724274413</a:t>
                      </a:r>
                      <a:endParaRPr lang="en-US" sz="32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233385" marT="70016" marB="23338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8550116"/>
                  </a:ext>
                </a:extLst>
              </a:tr>
              <a:tr h="863526">
                <a:tc>
                  <a:txBody>
                    <a:bodyPr/>
                    <a:lstStyle/>
                    <a:p>
                      <a:r>
                        <a:rPr lang="en-US" sz="3100" cap="none" spc="0">
                          <a:solidFill>
                            <a:schemeClr val="tx1"/>
                          </a:solidFill>
                        </a:rPr>
                        <a:t>r2</a:t>
                      </a:r>
                    </a:p>
                  </a:txBody>
                  <a:tcPr marL="0" marR="233385" marT="70016" marB="23338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0.05137096819809445</a:t>
                      </a:r>
                      <a:endParaRPr lang="en-US" sz="32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233385" marT="70016" marB="23338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0.04474584742963609</a:t>
                      </a:r>
                      <a:endParaRPr lang="en-US" sz="32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233385" marT="70016" marB="23338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223045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915931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11D395-FA6C-11E3-EDF7-C55A253A74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MLR (with feature selection)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ED350D0-8CB7-DA3F-F984-F6D6745861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1717" y="1666970"/>
            <a:ext cx="8883968" cy="50338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44004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11D395-FA6C-11E3-EDF7-C55A253A74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MLR Coefficients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6E1B6DE-AA3F-7977-813B-C3D08AF994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3118" y="1666970"/>
            <a:ext cx="8005763" cy="5062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25997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43E242-3DBB-C524-0D85-7485658AEC2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Random Forests – winter model</a:t>
            </a:r>
          </a:p>
        </p:txBody>
      </p:sp>
    </p:spTree>
    <p:extLst>
      <p:ext uri="{BB962C8B-B14F-4D97-AF65-F5344CB8AC3E}">
        <p14:creationId xmlns:p14="http://schemas.microsoft.com/office/powerpoint/2010/main" val="386796428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11D395-FA6C-11E3-EDF7-C55A253A74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Random Forests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onnsiteX0" fmla="*/ 0 w 4572000"/>
              <a:gd name="connsiteY0" fmla="*/ 0 h 18288"/>
              <a:gd name="connsiteX1" fmla="*/ 515983 w 4572000"/>
              <a:gd name="connsiteY1" fmla="*/ 0 h 18288"/>
              <a:gd name="connsiteX2" fmla="*/ 1031966 w 4572000"/>
              <a:gd name="connsiteY2" fmla="*/ 0 h 18288"/>
              <a:gd name="connsiteX3" fmla="*/ 1639389 w 4572000"/>
              <a:gd name="connsiteY3" fmla="*/ 0 h 18288"/>
              <a:gd name="connsiteX4" fmla="*/ 2383971 w 4572000"/>
              <a:gd name="connsiteY4" fmla="*/ 0 h 18288"/>
              <a:gd name="connsiteX5" fmla="*/ 2945674 w 4572000"/>
              <a:gd name="connsiteY5" fmla="*/ 0 h 18288"/>
              <a:gd name="connsiteX6" fmla="*/ 3507377 w 4572000"/>
              <a:gd name="connsiteY6" fmla="*/ 0 h 18288"/>
              <a:gd name="connsiteX7" fmla="*/ 4572000 w 4572000"/>
              <a:gd name="connsiteY7" fmla="*/ 0 h 18288"/>
              <a:gd name="connsiteX8" fmla="*/ 4572000 w 4572000"/>
              <a:gd name="connsiteY8" fmla="*/ 18288 h 18288"/>
              <a:gd name="connsiteX9" fmla="*/ 3873137 w 4572000"/>
              <a:gd name="connsiteY9" fmla="*/ 18288 h 18288"/>
              <a:gd name="connsiteX10" fmla="*/ 3311434 w 4572000"/>
              <a:gd name="connsiteY10" fmla="*/ 18288 h 18288"/>
              <a:gd name="connsiteX11" fmla="*/ 2749731 w 4572000"/>
              <a:gd name="connsiteY11" fmla="*/ 18288 h 18288"/>
              <a:gd name="connsiteX12" fmla="*/ 2050869 w 4572000"/>
              <a:gd name="connsiteY12" fmla="*/ 18288 h 18288"/>
              <a:gd name="connsiteX13" fmla="*/ 1306286 w 4572000"/>
              <a:gd name="connsiteY13" fmla="*/ 18288 h 18288"/>
              <a:gd name="connsiteX14" fmla="*/ 790303 w 4572000"/>
              <a:gd name="connsiteY14" fmla="*/ 18288 h 18288"/>
              <a:gd name="connsiteX15" fmla="*/ 0 w 4572000"/>
              <a:gd name="connsiteY15" fmla="*/ 18288 h 18288"/>
              <a:gd name="connsiteX16" fmla="*/ 0 w 457200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B0A006C-D5E4-8C8F-8A7B-716EE0796B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0909937"/>
              </p:ext>
            </p:extLst>
          </p:nvPr>
        </p:nvGraphicFramePr>
        <p:xfrm>
          <a:off x="320040" y="2893300"/>
          <a:ext cx="11548872" cy="3066700"/>
        </p:xfrm>
        <a:graphic>
          <a:graphicData uri="http://schemas.openxmlformats.org/drawingml/2006/table">
            <a:tbl>
              <a:tblPr firstRow="1" bandRow="1">
                <a:solidFill>
                  <a:srgbClr val="F2F2F2">
                    <a:alpha val="30196"/>
                  </a:srgbClr>
                </a:solidFill>
                <a:tableStyleId>{5C22544A-7EE6-4342-B048-85BDC9FD1C3A}</a:tableStyleId>
              </a:tblPr>
              <a:tblGrid>
                <a:gridCol w="1950444">
                  <a:extLst>
                    <a:ext uri="{9D8B030D-6E8A-4147-A177-3AD203B41FA5}">
                      <a16:colId xmlns:a16="http://schemas.microsoft.com/office/drawing/2014/main" val="3374051117"/>
                    </a:ext>
                  </a:extLst>
                </a:gridCol>
                <a:gridCol w="4799214">
                  <a:extLst>
                    <a:ext uri="{9D8B030D-6E8A-4147-A177-3AD203B41FA5}">
                      <a16:colId xmlns:a16="http://schemas.microsoft.com/office/drawing/2014/main" val="1171289285"/>
                    </a:ext>
                  </a:extLst>
                </a:gridCol>
                <a:gridCol w="4799214">
                  <a:extLst>
                    <a:ext uri="{9D8B030D-6E8A-4147-A177-3AD203B41FA5}">
                      <a16:colId xmlns:a16="http://schemas.microsoft.com/office/drawing/2014/main" val="3178643292"/>
                    </a:ext>
                  </a:extLst>
                </a:gridCol>
              </a:tblGrid>
              <a:tr h="766675">
                <a:tc>
                  <a:txBody>
                    <a:bodyPr/>
                    <a:lstStyle/>
                    <a:p>
                      <a:endParaRPr lang="en-US" sz="2500" b="0" cap="none" spc="0">
                        <a:solidFill>
                          <a:schemeClr val="bg1"/>
                        </a:solidFill>
                      </a:endParaRPr>
                    </a:p>
                  </a:txBody>
                  <a:tcPr marL="210566" marR="161973" marT="161973" marB="161973" anchor="ctr">
                    <a:lnL w="19050" cap="flat" cmpd="sng" algn="ctr">
                      <a:noFill/>
                      <a:prstDash val="solid"/>
                    </a:lnL>
                    <a:lnR w="12700" cmpd="sng">
                      <a:noFill/>
                    </a:lnR>
                    <a:lnT w="19050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500" b="0" cap="none" spc="0" dirty="0">
                          <a:solidFill>
                            <a:schemeClr val="bg1"/>
                          </a:solidFill>
                        </a:rPr>
                        <a:t>Train</a:t>
                      </a:r>
                    </a:p>
                  </a:txBody>
                  <a:tcPr marL="210566" marR="161973" marT="161973" marB="161973" anchor="ctr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500" b="0" cap="none" spc="0">
                          <a:solidFill>
                            <a:schemeClr val="bg1"/>
                          </a:solidFill>
                        </a:rPr>
                        <a:t>Test</a:t>
                      </a:r>
                    </a:p>
                  </a:txBody>
                  <a:tcPr marL="210566" marR="161973" marT="161973" marB="161973" anchor="ctr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5545069"/>
                  </a:ext>
                </a:extLst>
              </a:tr>
              <a:tr h="766675">
                <a:tc>
                  <a:txBody>
                    <a:bodyPr/>
                    <a:lstStyle/>
                    <a:p>
                      <a:r>
                        <a:rPr lang="en-US" sz="2500" cap="none" spc="0" err="1">
                          <a:solidFill>
                            <a:schemeClr val="tx1"/>
                          </a:solidFill>
                        </a:rPr>
                        <a:t>rmse</a:t>
                      </a:r>
                      <a:endParaRPr lang="en-US" sz="2500" cap="none" spc="0">
                        <a:solidFill>
                          <a:schemeClr val="tx1"/>
                        </a:solidFill>
                      </a:endParaRPr>
                    </a:p>
                  </a:txBody>
                  <a:tcPr marL="210566" marR="161973" marT="161973" marB="161973">
                    <a:lnL w="38100" cap="flat" cmpd="sng" algn="ctr">
                      <a:noFill/>
                      <a:prstDash val="soli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R>
                    <a:lnT w="38100" cmpd="sng">
                      <a:noFill/>
                    </a:lnT>
                    <a:lnB w="6350" cap="flat" cmpd="sng" algn="ctr">
                      <a:noFill/>
                      <a:prstDash val="solid"/>
                    </a:lnB>
                    <a:solidFill>
                      <a:srgbClr val="F2F2F2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0.7684727475446798</a:t>
                      </a:r>
                      <a:endParaRPr lang="en-US" sz="28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210566" marR="161973" marT="161973" marB="161973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R>
                    <a:lnT w="38100" cmpd="sng">
                      <a:noFill/>
                    </a:lnT>
                    <a:lnB w="6350" cap="flat" cmpd="sng" algn="ctr">
                      <a:noFill/>
                      <a:prstDash val="solid"/>
                    </a:lnB>
                    <a:solidFill>
                      <a:srgbClr val="F2F2F2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0.8628376977514435</a:t>
                      </a:r>
                      <a:endParaRPr lang="en-US" sz="28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210566" marR="161973" marT="161973" marB="161973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L>
                    <a:lnR w="38100" cap="flat" cmpd="sng" algn="ctr">
                      <a:noFill/>
                      <a:prstDash val="solid"/>
                    </a:lnR>
                    <a:lnT w="38100" cmpd="sng">
                      <a:noFill/>
                    </a:lnT>
                    <a:lnB w="6350" cap="flat" cmpd="sng" algn="ctr">
                      <a:noFill/>
                      <a:prstDash val="solid"/>
                    </a:lnB>
                    <a:solidFill>
                      <a:srgbClr val="F2F2F2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561925"/>
                  </a:ext>
                </a:extLst>
              </a:tr>
              <a:tr h="766675">
                <a:tc>
                  <a:txBody>
                    <a:bodyPr/>
                    <a:lstStyle/>
                    <a:p>
                      <a:r>
                        <a:rPr lang="en-US" sz="2500" cap="none" spc="0">
                          <a:solidFill>
                            <a:schemeClr val="tx1"/>
                          </a:solidFill>
                        </a:rPr>
                        <a:t>std</a:t>
                      </a:r>
                    </a:p>
                  </a:txBody>
                  <a:tcPr marL="210566" marR="161973" marT="161973" marB="161973">
                    <a:lnL w="6350" cap="flat" cmpd="sng" algn="ctr">
                      <a:noFill/>
                      <a:prstDash val="solid"/>
                    </a:lnL>
                    <a:lnR w="6350" cap="flat" cmpd="sng" algn="ctr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1.0186321767135924</a:t>
                      </a:r>
                      <a:endParaRPr lang="en-US" sz="28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210566" marR="161973" marT="161973" marB="161973">
                    <a:lnL w="6350" cap="flat" cmpd="sng" algn="ctr">
                      <a:noFill/>
                      <a:prstDash val="solid"/>
                    </a:lnL>
                    <a:lnR w="6350" cap="flat" cmpd="sng" algn="ctr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1.0178590994190764</a:t>
                      </a:r>
                      <a:endParaRPr lang="en-US" sz="28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210566" marR="161973" marT="161973" marB="161973">
                    <a:lnL w="6350" cap="flat" cmpd="sng" algn="ctr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8550116"/>
                  </a:ext>
                </a:extLst>
              </a:tr>
              <a:tr h="766675">
                <a:tc>
                  <a:txBody>
                    <a:bodyPr/>
                    <a:lstStyle/>
                    <a:p>
                      <a:r>
                        <a:rPr lang="en-US" sz="2500" cap="none" spc="0">
                          <a:solidFill>
                            <a:schemeClr val="tx1"/>
                          </a:solidFill>
                        </a:rPr>
                        <a:t>r2</a:t>
                      </a:r>
                    </a:p>
                  </a:txBody>
                  <a:tcPr marL="210566" marR="161973" marT="161973" marB="161973">
                    <a:lnL w="38100" cap="flat" cmpd="sng" algn="ctr">
                      <a:noFill/>
                      <a:prstDash val="soli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R>
                    <a:lnT w="12700" cmpd="sng">
                      <a:noFill/>
                      <a:prstDash val="solid"/>
                    </a:lnT>
                    <a:lnB w="38100" cap="flat" cmpd="sng" algn="ctr">
                      <a:noFill/>
                      <a:prstDash val="solid"/>
                    </a:lnB>
                    <a:solidFill>
                      <a:srgbClr val="F2F2F2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0.43076815544353786</a:t>
                      </a:r>
                      <a:endParaRPr lang="en-US" sz="28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210566" marR="161973" marT="161973" marB="161973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R>
                    <a:lnT w="12700" cmpd="sng">
                      <a:noFill/>
                      <a:prstDash val="solid"/>
                    </a:lnT>
                    <a:lnB w="38100" cap="flat" cmpd="sng" algn="ctr">
                      <a:noFill/>
                      <a:prstDash val="solid"/>
                    </a:lnB>
                    <a:solidFill>
                      <a:srgbClr val="F2F2F2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0.2812192125659852</a:t>
                      </a:r>
                      <a:endParaRPr lang="en-US" sz="28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210566" marR="161973" marT="161973" marB="161973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L>
                    <a:lnR w="38100" cap="flat" cmpd="sng" algn="ctr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38100" cap="flat" cmpd="sng" algn="ctr">
                      <a:noFill/>
                      <a:prstDash val="solid"/>
                    </a:lnB>
                    <a:solidFill>
                      <a:srgbClr val="F2F2F2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23045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737794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11D395-FA6C-11E3-EDF7-C55A253A74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Random Forests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onnsiteX0" fmla="*/ 0 w 4572000"/>
              <a:gd name="connsiteY0" fmla="*/ 0 h 18288"/>
              <a:gd name="connsiteX1" fmla="*/ 515983 w 4572000"/>
              <a:gd name="connsiteY1" fmla="*/ 0 h 18288"/>
              <a:gd name="connsiteX2" fmla="*/ 1031966 w 4572000"/>
              <a:gd name="connsiteY2" fmla="*/ 0 h 18288"/>
              <a:gd name="connsiteX3" fmla="*/ 1639389 w 4572000"/>
              <a:gd name="connsiteY3" fmla="*/ 0 h 18288"/>
              <a:gd name="connsiteX4" fmla="*/ 2383971 w 4572000"/>
              <a:gd name="connsiteY4" fmla="*/ 0 h 18288"/>
              <a:gd name="connsiteX5" fmla="*/ 2945674 w 4572000"/>
              <a:gd name="connsiteY5" fmla="*/ 0 h 18288"/>
              <a:gd name="connsiteX6" fmla="*/ 3507377 w 4572000"/>
              <a:gd name="connsiteY6" fmla="*/ 0 h 18288"/>
              <a:gd name="connsiteX7" fmla="*/ 4572000 w 4572000"/>
              <a:gd name="connsiteY7" fmla="*/ 0 h 18288"/>
              <a:gd name="connsiteX8" fmla="*/ 4572000 w 4572000"/>
              <a:gd name="connsiteY8" fmla="*/ 18288 h 18288"/>
              <a:gd name="connsiteX9" fmla="*/ 3873137 w 4572000"/>
              <a:gd name="connsiteY9" fmla="*/ 18288 h 18288"/>
              <a:gd name="connsiteX10" fmla="*/ 3311434 w 4572000"/>
              <a:gd name="connsiteY10" fmla="*/ 18288 h 18288"/>
              <a:gd name="connsiteX11" fmla="*/ 2749731 w 4572000"/>
              <a:gd name="connsiteY11" fmla="*/ 18288 h 18288"/>
              <a:gd name="connsiteX12" fmla="*/ 2050869 w 4572000"/>
              <a:gd name="connsiteY12" fmla="*/ 18288 h 18288"/>
              <a:gd name="connsiteX13" fmla="*/ 1306286 w 4572000"/>
              <a:gd name="connsiteY13" fmla="*/ 18288 h 18288"/>
              <a:gd name="connsiteX14" fmla="*/ 790303 w 4572000"/>
              <a:gd name="connsiteY14" fmla="*/ 18288 h 18288"/>
              <a:gd name="connsiteX15" fmla="*/ 0 w 4572000"/>
              <a:gd name="connsiteY15" fmla="*/ 18288 h 18288"/>
              <a:gd name="connsiteX16" fmla="*/ 0 w 457200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455DD69-C101-8E0C-217B-B38259A098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1707" y="2084546"/>
            <a:ext cx="7728585" cy="4334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5318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43E242-3DBB-C524-0D85-7485658AEC2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Random Forests – summer model</a:t>
            </a:r>
          </a:p>
        </p:txBody>
      </p:sp>
    </p:spTree>
    <p:extLst>
      <p:ext uri="{BB962C8B-B14F-4D97-AF65-F5344CB8AC3E}">
        <p14:creationId xmlns:p14="http://schemas.microsoft.com/office/powerpoint/2010/main" val="222593905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11D395-FA6C-11E3-EDF7-C55A253A74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Random Forests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B0A006C-D5E4-8C8F-8A7B-716EE0796B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65522"/>
              </p:ext>
            </p:extLst>
          </p:nvPr>
        </p:nvGraphicFramePr>
        <p:xfrm>
          <a:off x="320040" y="2893300"/>
          <a:ext cx="11548872" cy="3066700"/>
        </p:xfrm>
        <a:graphic>
          <a:graphicData uri="http://schemas.openxmlformats.org/drawingml/2006/table">
            <a:tbl>
              <a:tblPr firstRow="1" bandRow="1">
                <a:solidFill>
                  <a:srgbClr val="F2F2F2">
                    <a:alpha val="30196"/>
                  </a:srgbClr>
                </a:solidFill>
                <a:tableStyleId>{5C22544A-7EE6-4342-B048-85BDC9FD1C3A}</a:tableStyleId>
              </a:tblPr>
              <a:tblGrid>
                <a:gridCol w="1950444">
                  <a:extLst>
                    <a:ext uri="{9D8B030D-6E8A-4147-A177-3AD203B41FA5}">
                      <a16:colId xmlns:a16="http://schemas.microsoft.com/office/drawing/2014/main" val="3374051117"/>
                    </a:ext>
                  </a:extLst>
                </a:gridCol>
                <a:gridCol w="4799214">
                  <a:extLst>
                    <a:ext uri="{9D8B030D-6E8A-4147-A177-3AD203B41FA5}">
                      <a16:colId xmlns:a16="http://schemas.microsoft.com/office/drawing/2014/main" val="1171289285"/>
                    </a:ext>
                  </a:extLst>
                </a:gridCol>
                <a:gridCol w="4799214">
                  <a:extLst>
                    <a:ext uri="{9D8B030D-6E8A-4147-A177-3AD203B41FA5}">
                      <a16:colId xmlns:a16="http://schemas.microsoft.com/office/drawing/2014/main" val="3178643292"/>
                    </a:ext>
                  </a:extLst>
                </a:gridCol>
              </a:tblGrid>
              <a:tr h="766675">
                <a:tc>
                  <a:txBody>
                    <a:bodyPr/>
                    <a:lstStyle/>
                    <a:p>
                      <a:endParaRPr lang="en-US" sz="2500" b="0" cap="none" spc="0">
                        <a:solidFill>
                          <a:schemeClr val="bg1"/>
                        </a:solidFill>
                      </a:endParaRPr>
                    </a:p>
                  </a:txBody>
                  <a:tcPr marL="210566" marR="161973" marT="161973" marB="161973" anchor="ctr">
                    <a:lnL w="19050" cap="flat" cmpd="sng" algn="ctr">
                      <a:noFill/>
                      <a:prstDash val="solid"/>
                    </a:lnL>
                    <a:lnR w="12700" cmpd="sng">
                      <a:noFill/>
                    </a:lnR>
                    <a:lnT w="19050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500" b="0" cap="none" spc="0" dirty="0">
                          <a:solidFill>
                            <a:schemeClr val="bg1"/>
                          </a:solidFill>
                        </a:rPr>
                        <a:t>Train</a:t>
                      </a:r>
                    </a:p>
                  </a:txBody>
                  <a:tcPr marL="210566" marR="161973" marT="161973" marB="161973" anchor="ctr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500" b="0" cap="none" spc="0">
                          <a:solidFill>
                            <a:schemeClr val="bg1"/>
                          </a:solidFill>
                        </a:rPr>
                        <a:t>Test</a:t>
                      </a:r>
                    </a:p>
                  </a:txBody>
                  <a:tcPr marL="210566" marR="161973" marT="161973" marB="161973" anchor="ctr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5545069"/>
                  </a:ext>
                </a:extLst>
              </a:tr>
              <a:tr h="766675">
                <a:tc>
                  <a:txBody>
                    <a:bodyPr/>
                    <a:lstStyle/>
                    <a:p>
                      <a:r>
                        <a:rPr lang="en-US" sz="2500" cap="none" spc="0" err="1">
                          <a:solidFill>
                            <a:schemeClr val="tx1"/>
                          </a:solidFill>
                        </a:rPr>
                        <a:t>rmse</a:t>
                      </a:r>
                      <a:endParaRPr lang="en-US" sz="2500" cap="none" spc="0">
                        <a:solidFill>
                          <a:schemeClr val="tx1"/>
                        </a:solidFill>
                      </a:endParaRPr>
                    </a:p>
                  </a:txBody>
                  <a:tcPr marL="210566" marR="161973" marT="161973" marB="161973">
                    <a:lnL w="38100" cap="flat" cmpd="sng" algn="ctr">
                      <a:noFill/>
                      <a:prstDash val="soli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R>
                    <a:lnT w="38100" cmpd="sng">
                      <a:noFill/>
                    </a:lnT>
                    <a:lnB w="6350" cap="flat" cmpd="sng" algn="ctr">
                      <a:noFill/>
                      <a:prstDash val="solid"/>
                    </a:lnB>
                    <a:solidFill>
                      <a:srgbClr val="F2F2F2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0.86135409411569</a:t>
                      </a:r>
                      <a:endParaRPr lang="en-US" sz="28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210566" marR="161973" marT="161973" marB="161973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R>
                    <a:lnT w="38100" cmpd="sng">
                      <a:noFill/>
                    </a:lnT>
                    <a:lnB w="6350" cap="flat" cmpd="sng" algn="ctr">
                      <a:noFill/>
                      <a:prstDash val="solid"/>
                    </a:lnB>
                    <a:solidFill>
                      <a:srgbClr val="F2F2F2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0.8670253669248283</a:t>
                      </a:r>
                      <a:endParaRPr lang="en-US" sz="28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210566" marR="161973" marT="161973" marB="161973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L>
                    <a:lnR w="38100" cap="flat" cmpd="sng" algn="ctr">
                      <a:noFill/>
                      <a:prstDash val="solid"/>
                    </a:lnR>
                    <a:lnT w="38100" cmpd="sng">
                      <a:noFill/>
                    </a:lnT>
                    <a:lnB w="6350" cap="flat" cmpd="sng" algn="ctr">
                      <a:noFill/>
                      <a:prstDash val="solid"/>
                    </a:lnB>
                    <a:solidFill>
                      <a:srgbClr val="F2F2F2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561925"/>
                  </a:ext>
                </a:extLst>
              </a:tr>
              <a:tr h="766675">
                <a:tc>
                  <a:txBody>
                    <a:bodyPr/>
                    <a:lstStyle/>
                    <a:p>
                      <a:r>
                        <a:rPr lang="en-US" sz="2500" cap="none" spc="0">
                          <a:solidFill>
                            <a:schemeClr val="tx1"/>
                          </a:solidFill>
                        </a:rPr>
                        <a:t>std</a:t>
                      </a:r>
                    </a:p>
                  </a:txBody>
                  <a:tcPr marL="210566" marR="161973" marT="161973" marB="161973">
                    <a:lnL w="6350" cap="flat" cmpd="sng" algn="ctr">
                      <a:noFill/>
                      <a:prstDash val="solid"/>
                    </a:lnL>
                    <a:lnR w="6350" cap="flat" cmpd="sng" algn="ctr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0.982525536760998</a:t>
                      </a:r>
                      <a:endParaRPr lang="en-US" sz="28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210566" marR="161973" marT="161973" marB="161973">
                    <a:lnL w="6350" cap="flat" cmpd="sng" algn="ctr">
                      <a:noFill/>
                      <a:prstDash val="solid"/>
                    </a:lnL>
                    <a:lnR w="6350" cap="flat" cmpd="sng" algn="ctr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0.9811411173524434</a:t>
                      </a:r>
                      <a:endParaRPr lang="en-US" sz="28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210566" marR="161973" marT="161973" marB="161973">
                    <a:lnL w="6350" cap="flat" cmpd="sng" algn="ctr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8550116"/>
                  </a:ext>
                </a:extLst>
              </a:tr>
              <a:tr h="766675">
                <a:tc>
                  <a:txBody>
                    <a:bodyPr/>
                    <a:lstStyle/>
                    <a:p>
                      <a:r>
                        <a:rPr lang="en-US" sz="2500" cap="none" spc="0">
                          <a:solidFill>
                            <a:schemeClr val="tx1"/>
                          </a:solidFill>
                        </a:rPr>
                        <a:t>r2</a:t>
                      </a:r>
                    </a:p>
                  </a:txBody>
                  <a:tcPr marL="210566" marR="161973" marT="161973" marB="161973">
                    <a:lnL w="38100" cap="flat" cmpd="sng" algn="ctr">
                      <a:noFill/>
                      <a:prstDash val="soli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R>
                    <a:lnT w="12700" cmpd="sng">
                      <a:noFill/>
                      <a:prstDash val="solid"/>
                    </a:lnT>
                    <a:lnB w="38100" cap="flat" cmpd="sng" algn="ctr">
                      <a:noFill/>
                      <a:prstDash val="solid"/>
                    </a:lnB>
                    <a:solidFill>
                      <a:srgbClr val="F2F2F2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0.23143355042142183</a:t>
                      </a:r>
                      <a:endParaRPr lang="en-US" sz="28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210566" marR="161973" marT="161973" marB="161973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R>
                    <a:lnT w="12700" cmpd="sng">
                      <a:noFill/>
                      <a:prstDash val="solid"/>
                    </a:lnT>
                    <a:lnB w="38100" cap="flat" cmpd="sng" algn="ctr">
                      <a:noFill/>
                      <a:prstDash val="solid"/>
                    </a:lnB>
                    <a:solidFill>
                      <a:srgbClr val="F2F2F2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0.2190790948099389</a:t>
                      </a:r>
                      <a:endParaRPr lang="en-US" sz="28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210566" marR="161973" marT="161973" marB="161973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L>
                    <a:lnR w="38100" cap="flat" cmpd="sng" algn="ctr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38100" cap="flat" cmpd="sng" algn="ctr">
                      <a:noFill/>
                      <a:prstDash val="solid"/>
                    </a:lnB>
                    <a:solidFill>
                      <a:srgbClr val="F2F2F2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23045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404709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11D395-FA6C-11E3-EDF7-C55A253A74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Random Forests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FB3CEFF-B81D-9356-F04C-9D83B3D07D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8403" y="1661144"/>
            <a:ext cx="8570596" cy="4779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435992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11D395-FA6C-11E3-EDF7-C55A253A74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NN – winter model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onnsiteX0" fmla="*/ 0 w 4572000"/>
              <a:gd name="connsiteY0" fmla="*/ 0 h 18288"/>
              <a:gd name="connsiteX1" fmla="*/ 515983 w 4572000"/>
              <a:gd name="connsiteY1" fmla="*/ 0 h 18288"/>
              <a:gd name="connsiteX2" fmla="*/ 1031966 w 4572000"/>
              <a:gd name="connsiteY2" fmla="*/ 0 h 18288"/>
              <a:gd name="connsiteX3" fmla="*/ 1639389 w 4572000"/>
              <a:gd name="connsiteY3" fmla="*/ 0 h 18288"/>
              <a:gd name="connsiteX4" fmla="*/ 2383971 w 4572000"/>
              <a:gd name="connsiteY4" fmla="*/ 0 h 18288"/>
              <a:gd name="connsiteX5" fmla="*/ 2945674 w 4572000"/>
              <a:gd name="connsiteY5" fmla="*/ 0 h 18288"/>
              <a:gd name="connsiteX6" fmla="*/ 3507377 w 4572000"/>
              <a:gd name="connsiteY6" fmla="*/ 0 h 18288"/>
              <a:gd name="connsiteX7" fmla="*/ 4572000 w 4572000"/>
              <a:gd name="connsiteY7" fmla="*/ 0 h 18288"/>
              <a:gd name="connsiteX8" fmla="*/ 4572000 w 4572000"/>
              <a:gd name="connsiteY8" fmla="*/ 18288 h 18288"/>
              <a:gd name="connsiteX9" fmla="*/ 3873137 w 4572000"/>
              <a:gd name="connsiteY9" fmla="*/ 18288 h 18288"/>
              <a:gd name="connsiteX10" fmla="*/ 3311434 w 4572000"/>
              <a:gd name="connsiteY10" fmla="*/ 18288 h 18288"/>
              <a:gd name="connsiteX11" fmla="*/ 2749731 w 4572000"/>
              <a:gd name="connsiteY11" fmla="*/ 18288 h 18288"/>
              <a:gd name="connsiteX12" fmla="*/ 2050869 w 4572000"/>
              <a:gd name="connsiteY12" fmla="*/ 18288 h 18288"/>
              <a:gd name="connsiteX13" fmla="*/ 1306286 w 4572000"/>
              <a:gd name="connsiteY13" fmla="*/ 18288 h 18288"/>
              <a:gd name="connsiteX14" fmla="*/ 790303 w 4572000"/>
              <a:gd name="connsiteY14" fmla="*/ 18288 h 18288"/>
              <a:gd name="connsiteX15" fmla="*/ 0 w 4572000"/>
              <a:gd name="connsiteY15" fmla="*/ 18288 h 18288"/>
              <a:gd name="connsiteX16" fmla="*/ 0 w 457200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B0A006C-D5E4-8C8F-8A7B-716EE0796B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3225258"/>
              </p:ext>
            </p:extLst>
          </p:nvPr>
        </p:nvGraphicFramePr>
        <p:xfrm>
          <a:off x="455253" y="2951416"/>
          <a:ext cx="11278448" cy="2950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>
                  <a:extLst>
                    <a:ext uri="{9D8B030D-6E8A-4147-A177-3AD203B41FA5}">
                      <a16:colId xmlns:a16="http://schemas.microsoft.com/office/drawing/2014/main" val="3374051117"/>
                    </a:ext>
                  </a:extLst>
                </a:gridCol>
                <a:gridCol w="4884844">
                  <a:extLst>
                    <a:ext uri="{9D8B030D-6E8A-4147-A177-3AD203B41FA5}">
                      <a16:colId xmlns:a16="http://schemas.microsoft.com/office/drawing/2014/main" val="1171289285"/>
                    </a:ext>
                  </a:extLst>
                </a:gridCol>
                <a:gridCol w="4884844">
                  <a:extLst>
                    <a:ext uri="{9D8B030D-6E8A-4147-A177-3AD203B41FA5}">
                      <a16:colId xmlns:a16="http://schemas.microsoft.com/office/drawing/2014/main" val="3178643292"/>
                    </a:ext>
                  </a:extLst>
                </a:gridCol>
              </a:tblGrid>
              <a:tr h="737616">
                <a:tc>
                  <a:txBody>
                    <a:bodyPr/>
                    <a:lstStyle/>
                    <a:p>
                      <a:endParaRPr lang="en-US" sz="3300"/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3300" dirty="0"/>
                        <a:t>Train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3300"/>
                        <a:t>Test</a:t>
                      </a:r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1035545069"/>
                  </a:ext>
                </a:extLst>
              </a:tr>
              <a:tr h="737616">
                <a:tc>
                  <a:txBody>
                    <a:bodyPr/>
                    <a:lstStyle/>
                    <a:p>
                      <a:r>
                        <a:rPr lang="en-US" sz="3300"/>
                        <a:t>rmse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3300" dirty="0"/>
                        <a:t>0.9687010806906278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3300" dirty="0"/>
                        <a:t>1.0231099899970502</a:t>
                      </a:r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220561925"/>
                  </a:ext>
                </a:extLst>
              </a:tr>
              <a:tr h="737616">
                <a:tc>
                  <a:txBody>
                    <a:bodyPr/>
                    <a:lstStyle/>
                    <a:p>
                      <a:r>
                        <a:rPr lang="en-US" sz="3300"/>
                        <a:t>std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3300" dirty="0"/>
                        <a:t>1.0156245895233729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3300" dirty="0"/>
                        <a:t>1.003930142520986</a:t>
                      </a:r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3068550116"/>
                  </a:ext>
                </a:extLst>
              </a:tr>
              <a:tr h="737616">
                <a:tc>
                  <a:txBody>
                    <a:bodyPr/>
                    <a:lstStyle/>
                    <a:p>
                      <a:r>
                        <a:rPr lang="en-US" sz="3300"/>
                        <a:t>r2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3300" dirty="0"/>
                        <a:t>0.0900247844614542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3300" dirty="0"/>
                        <a:t>0.037059980584885216</a:t>
                      </a:r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10223045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309750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11D395-FA6C-11E3-EDF7-C55A253A74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NN – summer model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B0A006C-D5E4-8C8F-8A7B-716EE0796B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7765008"/>
              </p:ext>
            </p:extLst>
          </p:nvPr>
        </p:nvGraphicFramePr>
        <p:xfrm>
          <a:off x="455253" y="2951416"/>
          <a:ext cx="11278448" cy="2950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>
                  <a:extLst>
                    <a:ext uri="{9D8B030D-6E8A-4147-A177-3AD203B41FA5}">
                      <a16:colId xmlns:a16="http://schemas.microsoft.com/office/drawing/2014/main" val="3374051117"/>
                    </a:ext>
                  </a:extLst>
                </a:gridCol>
                <a:gridCol w="4884844">
                  <a:extLst>
                    <a:ext uri="{9D8B030D-6E8A-4147-A177-3AD203B41FA5}">
                      <a16:colId xmlns:a16="http://schemas.microsoft.com/office/drawing/2014/main" val="1171289285"/>
                    </a:ext>
                  </a:extLst>
                </a:gridCol>
                <a:gridCol w="4884844">
                  <a:extLst>
                    <a:ext uri="{9D8B030D-6E8A-4147-A177-3AD203B41FA5}">
                      <a16:colId xmlns:a16="http://schemas.microsoft.com/office/drawing/2014/main" val="3178643292"/>
                    </a:ext>
                  </a:extLst>
                </a:gridCol>
              </a:tblGrid>
              <a:tr h="737616">
                <a:tc>
                  <a:txBody>
                    <a:bodyPr/>
                    <a:lstStyle/>
                    <a:p>
                      <a:endParaRPr lang="en-US" sz="3300"/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3300" dirty="0"/>
                        <a:t>Train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3300"/>
                        <a:t>Test</a:t>
                      </a:r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1035545069"/>
                  </a:ext>
                </a:extLst>
              </a:tr>
              <a:tr h="737616">
                <a:tc>
                  <a:txBody>
                    <a:bodyPr/>
                    <a:lstStyle/>
                    <a:p>
                      <a:r>
                        <a:rPr lang="en-US" sz="3300"/>
                        <a:t>rmse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3300" dirty="0"/>
                        <a:t>0.9059473842522177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3300" dirty="0"/>
                        <a:t>0.8966228680469563</a:t>
                      </a:r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220561925"/>
                  </a:ext>
                </a:extLst>
              </a:tr>
              <a:tr h="737616">
                <a:tc>
                  <a:txBody>
                    <a:bodyPr/>
                    <a:lstStyle/>
                    <a:p>
                      <a:r>
                        <a:rPr lang="en-US" sz="3300"/>
                        <a:t>std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3300" dirty="0"/>
                        <a:t>0.9805457601714375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3300" dirty="0"/>
                        <a:t>0.9697913995790515</a:t>
                      </a:r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3068550116"/>
                  </a:ext>
                </a:extLst>
              </a:tr>
              <a:tr h="737616">
                <a:tc>
                  <a:txBody>
                    <a:bodyPr/>
                    <a:lstStyle/>
                    <a:p>
                      <a:r>
                        <a:rPr lang="en-US" sz="3300"/>
                        <a:t>r2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3300" dirty="0"/>
                        <a:t>0.14618450694309326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3300" dirty="0"/>
                        <a:t>0.14504384129456485</a:t>
                      </a:r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10223045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698920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4969</TotalTime>
  <Words>164</Words>
  <Application>Microsoft Office PowerPoint</Application>
  <PresentationFormat>Widescreen</PresentationFormat>
  <Paragraphs>86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Arial</vt:lpstr>
      <vt:lpstr>Calibri</vt:lpstr>
      <vt:lpstr>Calibri Light</vt:lpstr>
      <vt:lpstr>Office Theme</vt:lpstr>
      <vt:lpstr>Statistics</vt:lpstr>
      <vt:lpstr>% of the coasts that are clean over 70% of the time </vt:lpstr>
      <vt:lpstr>Models Summary</vt:lpstr>
      <vt:lpstr>MLR – summer model</vt:lpstr>
      <vt:lpstr>MLR (with feature selection)</vt:lpstr>
      <vt:lpstr>MLR (with feature selection)</vt:lpstr>
      <vt:lpstr>MLR Coefficients</vt:lpstr>
      <vt:lpstr>MLR – winter model</vt:lpstr>
      <vt:lpstr>MLR (with feature selection)</vt:lpstr>
      <vt:lpstr>MLR (with feature selection)</vt:lpstr>
      <vt:lpstr>MLR Coefficients</vt:lpstr>
      <vt:lpstr>Random Forests – winter model</vt:lpstr>
      <vt:lpstr>Random Forests</vt:lpstr>
      <vt:lpstr>Random Forests</vt:lpstr>
      <vt:lpstr>Random Forests – summer model</vt:lpstr>
      <vt:lpstr>Random Forests</vt:lpstr>
      <vt:lpstr>Random Forests</vt:lpstr>
      <vt:lpstr>NN – winter model</vt:lpstr>
      <vt:lpstr>NN – summer model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Models Summary</dc:title>
  <dc:creator>ליאב כהן</dc:creator>
  <cp:lastModifiedBy>ליאב כהן</cp:lastModifiedBy>
  <cp:revision>23</cp:revision>
  <dcterms:created xsi:type="dcterms:W3CDTF">2023-12-04T13:37:48Z</dcterms:created>
  <dcterms:modified xsi:type="dcterms:W3CDTF">2023-12-28T10:16:47Z</dcterms:modified>
</cp:coreProperties>
</file>