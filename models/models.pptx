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1" r:id="rId4"/>
    <p:sldId id="262" r:id="rId5"/>
    <p:sldId id="258" r:id="rId6"/>
    <p:sldId id="260" r:id="rId7"/>
    <p:sldId id="263" r:id="rId8"/>
    <p:sldId id="259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90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3369F-0137-071E-266F-32015224AD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9FC021-1F65-62E1-11A2-609AB5EFDD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41A268-7C9C-E6A1-37DB-3CC727C88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12/11/2023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6B41A5-1161-6994-8061-28595D9B4F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D437D6-CAC1-F1AD-272C-DA6CC4E437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6651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2586BA-5A5E-8ECD-14EB-7D35FCEE5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953132-86B5-554C-E5A8-188CE5D2AB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0E294B-3EB5-2699-9F4F-A23AE44029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12/11/2023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71B18C-CFAD-2AE0-9997-2D8FE6289C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CC747C-6A9B-9DB2-596D-04ABF62A1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8608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FC5CE-12F5-CDB1-4DD7-F17D048E0B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4A8DDA-4746-FABD-4A1A-01509346F3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1BC1CF-646F-0D35-9C64-34D5E32FC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12/11/2023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F5DE9A-D549-3F73-E143-4980D04A3B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C9508D-E187-537B-EEC9-9993E2AD3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3362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A3AE9E-DFD6-ACFD-057E-66FBE772A5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282C9F-9F6E-6794-0ED2-5D836079D0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5F4C07-0A26-6C27-187B-62F91BF396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D24E17-04A2-2365-AB54-354EB8477B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12/11/2023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92B989-4F8B-7BFB-41CF-599E051AF5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A399D6-0554-A383-12AF-A316E811C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2667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CAE183-2815-A908-EB9B-ACD1CFABB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BD4B1B-AC91-37F5-731A-C112189DD5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80FD20-7DD0-96CE-1CAC-0551097627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66E5FF-7101-EA79-09ED-B44809A643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6D0380-4077-AFC3-BF23-1240C4385B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354BC1E-ABF6-0586-3655-FD73F2924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12/11/2023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F3A98C1-E81B-1E4A-1F31-89F3AE991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30C9E8D-4148-820E-57D5-512DAB88C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93165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9B8DDB-45E8-1C53-CBD3-DCB5ED480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724725-7BC9-6ACB-A4AD-B6F66A4553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12/11/2023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B0CE0D-C4F0-22A7-0358-F6E519E951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F8B287-6612-0403-BED0-D3C1A9B2A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26615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0191DB2-E802-7AFC-B7EA-FA5B5E65FB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12/11/2023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D2FBA1B-31EF-379D-9AE8-2774463BA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2A3671-37C9-B54C-455A-766EDB67A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2162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039D9-817B-81F9-C229-88239E916B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6F73C9-DF23-4BC6-E06B-1DFCABA77A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39E1EA-8C15-0835-3CC7-131B50BAD4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C33D11-9AC0-BF27-0BEE-778DC7462D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12/11/2023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30CC39-BBB0-EBBF-A601-895AF13C5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28F213-EE87-D9EC-8158-04FC679849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0876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D373B-F9B1-BEC9-2A40-91695E13C1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7B584A-91AD-7B69-B1D6-361D650406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EE6777-1476-3961-752C-8C934EEAC7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A48A42-F4E2-4CC5-1E97-2E3413CA1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12/11/2023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E010B1-22E2-F9E9-ED35-5AB1C3B73E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6D36D1-7831-1DC8-E6C7-D27C6A6B9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02236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376668-9D3A-D061-A3BF-FD741F100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F94D26-4C59-9EB0-13F8-EAA6025BCF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A3DC48-EEB1-87AC-F2AD-04B375770E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12/11/2023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6217C4-AFB6-0C7F-027E-EFA8A99852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60A182-D752-25FA-2646-B36F40AB8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1139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8B44D1-11BA-CAC5-75F7-0E456414D8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9E019B-EB60-C2C0-DBFB-6ABCFD97F3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A3AAFA-F124-7432-0142-F31C482F3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12/11/2023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77BC06-1239-DA51-DCEC-D126DAB53C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1E5F35-43A9-465F-1F8F-9D632DE5A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286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03597EA-8190-9BD3-1712-8D69C2D58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0E4596-6FEE-C781-FF86-ED394E98E5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FE0631-8DD1-8457-0764-E85C1F2DA7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76E711-0D29-49A5-9CED-93AB08EA2C6C}" type="datetimeFigureOut">
              <a:rPr lang="en-US" smtClean="0"/>
              <a:t>12/11/2023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C574E4-2B78-217C-C6F8-38D6BEBC40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19EDBA-13E0-6F83-52B7-9B09FDE5FE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5073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3E242-3DBB-C524-0D85-7485658AEC2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Models Summary</a:t>
            </a:r>
          </a:p>
        </p:txBody>
      </p:sp>
    </p:spTree>
    <p:extLst>
      <p:ext uri="{BB962C8B-B14F-4D97-AF65-F5344CB8AC3E}">
        <p14:creationId xmlns:p14="http://schemas.microsoft.com/office/powerpoint/2010/main" val="41615598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MLR (with feature selection)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67A53A-262A-7C59-61F2-3A0E58636A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881" y="1809541"/>
            <a:ext cx="10909643" cy="68740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algn="ctr">
              <a:buNone/>
            </a:pPr>
            <a:r>
              <a:rPr lang="en-US" sz="2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Chose a random K (=9) as different K values didn’t make such a difference in the results.</a:t>
            </a:r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B0A006C-D5E4-8C8F-8A7B-716EE0796B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916080"/>
              </p:ext>
            </p:extLst>
          </p:nvPr>
        </p:nvGraphicFramePr>
        <p:xfrm>
          <a:off x="806032" y="2633472"/>
          <a:ext cx="10576889" cy="3586355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1380863">
                  <a:extLst>
                    <a:ext uri="{9D8B030D-6E8A-4147-A177-3AD203B41FA5}">
                      <a16:colId xmlns:a16="http://schemas.microsoft.com/office/drawing/2014/main" val="3374051117"/>
                    </a:ext>
                  </a:extLst>
                </a:gridCol>
                <a:gridCol w="4598013">
                  <a:extLst>
                    <a:ext uri="{9D8B030D-6E8A-4147-A177-3AD203B41FA5}">
                      <a16:colId xmlns:a16="http://schemas.microsoft.com/office/drawing/2014/main" val="1171289285"/>
                    </a:ext>
                  </a:extLst>
                </a:gridCol>
                <a:gridCol w="4598013">
                  <a:extLst>
                    <a:ext uri="{9D8B030D-6E8A-4147-A177-3AD203B41FA5}">
                      <a16:colId xmlns:a16="http://schemas.microsoft.com/office/drawing/2014/main" val="3178643292"/>
                    </a:ext>
                  </a:extLst>
                </a:gridCol>
              </a:tblGrid>
              <a:tr h="995777">
                <a:tc>
                  <a:txBody>
                    <a:bodyPr/>
                    <a:lstStyle/>
                    <a:p>
                      <a:endParaRPr lang="en-US" sz="4100" b="0" cap="none" spc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46677" marB="233385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4100" b="0" cap="none" spc="0" dirty="0">
                          <a:solidFill>
                            <a:schemeClr val="tx1"/>
                          </a:solidFill>
                        </a:rPr>
                        <a:t>Train</a:t>
                      </a:r>
                    </a:p>
                  </a:txBody>
                  <a:tcPr marL="0" marR="233385" marT="46677" marB="233385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4100" b="0" cap="none" spc="0">
                          <a:solidFill>
                            <a:schemeClr val="tx1"/>
                          </a:solidFill>
                        </a:rPr>
                        <a:t>Test</a:t>
                      </a:r>
                    </a:p>
                  </a:txBody>
                  <a:tcPr marL="0" marR="233385" marT="46677" marB="233385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5545069"/>
                  </a:ext>
                </a:extLst>
              </a:tr>
              <a:tr h="863526">
                <a:tc>
                  <a:txBody>
                    <a:bodyPr/>
                    <a:lstStyle/>
                    <a:p>
                      <a:r>
                        <a:rPr lang="en-US" sz="3100" cap="none" spc="0" dirty="0" err="1">
                          <a:solidFill>
                            <a:schemeClr val="tx1"/>
                          </a:solidFill>
                        </a:rPr>
                        <a:t>rmse</a:t>
                      </a:r>
                      <a:endParaRPr lang="en-US" sz="31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0.9620820542670917</a:t>
                      </a:r>
                      <a:endParaRPr lang="en-US" sz="3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0.9625299935416064</a:t>
                      </a:r>
                      <a:endParaRPr lang="en-US" sz="3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561925"/>
                  </a:ext>
                </a:extLst>
              </a:tr>
              <a:tr h="863526">
                <a:tc>
                  <a:txBody>
                    <a:bodyPr/>
                    <a:lstStyle/>
                    <a:p>
                      <a:r>
                        <a:rPr lang="en-US" sz="3100" cap="none" spc="0">
                          <a:solidFill>
                            <a:schemeClr val="tx1"/>
                          </a:solidFill>
                        </a:rPr>
                        <a:t>std</a:t>
                      </a: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0.9877446775785679</a:t>
                      </a:r>
                      <a:endParaRPr lang="en-US" sz="3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0.987883375469892</a:t>
                      </a:r>
                      <a:endParaRPr lang="en-US" sz="3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8550116"/>
                  </a:ext>
                </a:extLst>
              </a:tr>
              <a:tr h="863526">
                <a:tc>
                  <a:txBody>
                    <a:bodyPr/>
                    <a:lstStyle/>
                    <a:p>
                      <a:r>
                        <a:rPr lang="en-US" sz="3100" cap="none" spc="0">
                          <a:solidFill>
                            <a:schemeClr val="tx1"/>
                          </a:solidFill>
                        </a:rPr>
                        <a:t>r2</a:t>
                      </a: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0.051286474877359406</a:t>
                      </a:r>
                      <a:endParaRPr lang="en-US" sz="3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0.9625299935416064</a:t>
                      </a:r>
                      <a:endParaRPr lang="en-US" sz="3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223045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54060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MLR (with feature selection)</a:t>
            </a:r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48C358E-3877-6B78-5AAF-1E0883DC27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0275" y="1979934"/>
            <a:ext cx="7791450" cy="4460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78313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MLR Coefficients</a:t>
            </a:r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DBDEA3-FDCD-CBF5-8269-51EAFBE18F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881" y="1454712"/>
            <a:ext cx="10510900" cy="5152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27415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Random Forests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B0A006C-D5E4-8C8F-8A7B-716EE0796B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1838958"/>
              </p:ext>
            </p:extLst>
          </p:nvPr>
        </p:nvGraphicFramePr>
        <p:xfrm>
          <a:off x="320040" y="2893300"/>
          <a:ext cx="11548872" cy="3066700"/>
        </p:xfrm>
        <a:graphic>
          <a:graphicData uri="http://schemas.openxmlformats.org/drawingml/2006/table">
            <a:tbl>
              <a:tblPr firstRow="1" bandRow="1">
                <a:solidFill>
                  <a:srgbClr val="F2F2F2">
                    <a:alpha val="30196"/>
                  </a:srgbClr>
                </a:solidFill>
                <a:tableStyleId>{5C22544A-7EE6-4342-B048-85BDC9FD1C3A}</a:tableStyleId>
              </a:tblPr>
              <a:tblGrid>
                <a:gridCol w="1950444">
                  <a:extLst>
                    <a:ext uri="{9D8B030D-6E8A-4147-A177-3AD203B41FA5}">
                      <a16:colId xmlns:a16="http://schemas.microsoft.com/office/drawing/2014/main" val="3374051117"/>
                    </a:ext>
                  </a:extLst>
                </a:gridCol>
                <a:gridCol w="4799214">
                  <a:extLst>
                    <a:ext uri="{9D8B030D-6E8A-4147-A177-3AD203B41FA5}">
                      <a16:colId xmlns:a16="http://schemas.microsoft.com/office/drawing/2014/main" val="1171289285"/>
                    </a:ext>
                  </a:extLst>
                </a:gridCol>
                <a:gridCol w="4799214">
                  <a:extLst>
                    <a:ext uri="{9D8B030D-6E8A-4147-A177-3AD203B41FA5}">
                      <a16:colId xmlns:a16="http://schemas.microsoft.com/office/drawing/2014/main" val="3178643292"/>
                    </a:ext>
                  </a:extLst>
                </a:gridCol>
              </a:tblGrid>
              <a:tr h="766675">
                <a:tc>
                  <a:txBody>
                    <a:bodyPr/>
                    <a:lstStyle/>
                    <a:p>
                      <a:endParaRPr lang="en-US" sz="2500" b="0" cap="none" spc="0">
                        <a:solidFill>
                          <a:schemeClr val="bg1"/>
                        </a:solidFill>
                      </a:endParaRPr>
                    </a:p>
                  </a:txBody>
                  <a:tcPr marL="210566" marR="161973" marT="161973" marB="161973" anchor="ctr">
                    <a:lnL w="19050" cap="flat" cmpd="sng" algn="ctr">
                      <a:noFill/>
                      <a:prstDash val="solid"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500" b="0" cap="none" spc="0" dirty="0">
                          <a:solidFill>
                            <a:schemeClr val="bg1"/>
                          </a:solidFill>
                        </a:rPr>
                        <a:t>Train</a:t>
                      </a:r>
                    </a:p>
                  </a:txBody>
                  <a:tcPr marL="210566" marR="161973" marT="161973" marB="161973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500" b="0" cap="none" spc="0">
                          <a:solidFill>
                            <a:schemeClr val="bg1"/>
                          </a:solidFill>
                        </a:rPr>
                        <a:t>Test</a:t>
                      </a:r>
                    </a:p>
                  </a:txBody>
                  <a:tcPr marL="210566" marR="161973" marT="161973" marB="161973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5545069"/>
                  </a:ext>
                </a:extLst>
              </a:tr>
              <a:tr h="766675">
                <a:tc>
                  <a:txBody>
                    <a:bodyPr/>
                    <a:lstStyle/>
                    <a:p>
                      <a:r>
                        <a:rPr lang="en-US" sz="2500" cap="none" spc="0" err="1">
                          <a:solidFill>
                            <a:schemeClr val="tx1"/>
                          </a:solidFill>
                        </a:rPr>
                        <a:t>rmse</a:t>
                      </a:r>
                      <a:endParaRPr lang="en-US" sz="2500" cap="none" spc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38100" cap="flat" cmpd="sng" algn="ctr">
                      <a:noFill/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38100" cmpd="sng">
                      <a:noFill/>
                    </a:lnT>
                    <a:lnB w="635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0.7618089935607999</a:t>
                      </a:r>
                      <a:endParaRPr lang="en-US" sz="2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38100" cmpd="sng">
                      <a:noFill/>
                    </a:lnT>
                    <a:lnB w="635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0.7989763274134896</a:t>
                      </a:r>
                      <a:endParaRPr lang="en-US" sz="2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38100" cmpd="sng">
                      <a:noFill/>
                    </a:lnT>
                    <a:lnB w="635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61925"/>
                  </a:ext>
                </a:extLst>
              </a:tr>
              <a:tr h="766675">
                <a:tc>
                  <a:txBody>
                    <a:bodyPr/>
                    <a:lstStyle/>
                    <a:p>
                      <a:r>
                        <a:rPr lang="en-US" sz="2500" cap="none" spc="0">
                          <a:solidFill>
                            <a:schemeClr val="tx1"/>
                          </a:solidFill>
                        </a:rPr>
                        <a:t>std</a:t>
                      </a:r>
                    </a:p>
                  </a:txBody>
                  <a:tcPr marL="210566" marR="161973" marT="161973" marB="161973">
                    <a:lnL w="6350" cap="flat" cmpd="sng" algn="ctr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0.9911248056846443</a:t>
                      </a:r>
                      <a:endParaRPr lang="en-US" sz="2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0.9909221162209976</a:t>
                      </a:r>
                      <a:endParaRPr lang="en-US" sz="2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8550116"/>
                  </a:ext>
                </a:extLst>
              </a:tr>
              <a:tr h="766675">
                <a:tc>
                  <a:txBody>
                    <a:bodyPr/>
                    <a:lstStyle/>
                    <a:p>
                      <a:r>
                        <a:rPr lang="en-US" sz="2500" cap="none" spc="0">
                          <a:solidFill>
                            <a:schemeClr val="tx1"/>
                          </a:solidFill>
                        </a:rPr>
                        <a:t>r2</a:t>
                      </a:r>
                    </a:p>
                  </a:txBody>
                  <a:tcPr marL="210566" marR="161973" marT="161973" marB="161973">
                    <a:lnL w="38100" cap="flat" cmpd="sng" algn="ctr">
                      <a:noFill/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0.40919376625795545</a:t>
                      </a:r>
                      <a:endParaRPr lang="en-US" sz="2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0.3498240349477797</a:t>
                      </a:r>
                      <a:endParaRPr lang="en-US" sz="2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23045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737794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Random Forests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057971-CB1F-7BB7-380C-E53AC59F93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4036" y="2005525"/>
            <a:ext cx="8563928" cy="4852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531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Random Forests Coefficients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F6D6EC-7527-0C02-8F9E-C5108E9B6A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5308" y="1818226"/>
            <a:ext cx="7921383" cy="5030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36091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NN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B0A006C-D5E4-8C8F-8A7B-716EE0796B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4148184"/>
              </p:ext>
            </p:extLst>
          </p:nvPr>
        </p:nvGraphicFramePr>
        <p:xfrm>
          <a:off x="455253" y="2951416"/>
          <a:ext cx="11278448" cy="2950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>
                  <a:extLst>
                    <a:ext uri="{9D8B030D-6E8A-4147-A177-3AD203B41FA5}">
                      <a16:colId xmlns:a16="http://schemas.microsoft.com/office/drawing/2014/main" val="3374051117"/>
                    </a:ext>
                  </a:extLst>
                </a:gridCol>
                <a:gridCol w="4884844">
                  <a:extLst>
                    <a:ext uri="{9D8B030D-6E8A-4147-A177-3AD203B41FA5}">
                      <a16:colId xmlns:a16="http://schemas.microsoft.com/office/drawing/2014/main" val="1171289285"/>
                    </a:ext>
                  </a:extLst>
                </a:gridCol>
                <a:gridCol w="4884844">
                  <a:extLst>
                    <a:ext uri="{9D8B030D-6E8A-4147-A177-3AD203B41FA5}">
                      <a16:colId xmlns:a16="http://schemas.microsoft.com/office/drawing/2014/main" val="3178643292"/>
                    </a:ext>
                  </a:extLst>
                </a:gridCol>
              </a:tblGrid>
              <a:tr h="737616">
                <a:tc>
                  <a:txBody>
                    <a:bodyPr/>
                    <a:lstStyle/>
                    <a:p>
                      <a:endParaRPr lang="en-US" sz="3300"/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 dirty="0"/>
                        <a:t>Train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/>
                        <a:t>Test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1035545069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en-US" sz="3300"/>
                        <a:t>rmse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 dirty="0"/>
                        <a:t>0.8610712593671717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 dirty="0"/>
                        <a:t>0.8707158604157945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220561925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en-US" sz="3300"/>
                        <a:t>std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 dirty="0"/>
                        <a:t>0.9898609517585045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 dirty="0"/>
                        <a:t>0.979363398542771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3068550116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en-US" sz="3300"/>
                        <a:t>r2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 dirty="0"/>
                        <a:t>0.24226581795881022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 dirty="0"/>
                        <a:t>0.20909400960935293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10223045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30975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1881</TotalTime>
  <Words>77</Words>
  <Application>Microsoft Office PowerPoint</Application>
  <PresentationFormat>Widescreen</PresentationFormat>
  <Paragraphs>42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Models Summary</vt:lpstr>
      <vt:lpstr>MLR (with feature selection)</vt:lpstr>
      <vt:lpstr>MLR (with feature selection)</vt:lpstr>
      <vt:lpstr>MLR Coefficients</vt:lpstr>
      <vt:lpstr>Random Forests</vt:lpstr>
      <vt:lpstr>Random Forests</vt:lpstr>
      <vt:lpstr>Random Forests Coefficients</vt:lpstr>
      <vt:lpstr>NN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Models Summary</dc:title>
  <dc:creator>ליאב כהן</dc:creator>
  <cp:lastModifiedBy>ליאב כהן</cp:lastModifiedBy>
  <cp:revision>16</cp:revision>
  <dcterms:created xsi:type="dcterms:W3CDTF">2023-12-04T13:37:48Z</dcterms:created>
  <dcterms:modified xsi:type="dcterms:W3CDTF">2023-12-11T17:50:29Z</dcterms:modified>
</cp:coreProperties>
</file>