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0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54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369F-0137-071E-266F-32015224A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FC021-1F65-62E1-11A2-609AB5EFD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1A268-7C9C-E6A1-37DB-3CC727C8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41A5-1161-6994-8061-28595D9B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437D6-CAC1-F1AD-272C-DA6CC4E4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65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586BA-5A5E-8ECD-14EB-7D35FCEE5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53132-86B5-554C-E5A8-188CE5D2A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294B-3EB5-2699-9F4F-A23AE440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1B18C-CFAD-2AE0-9997-2D8FE628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C747C-6A9B-9DB2-596D-04ABF62A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C5CE-12F5-CDB1-4DD7-F17D048E0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A8DDA-4746-FABD-4A1A-01509346F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BC1CF-646F-0D35-9C64-34D5E32FC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5DE9A-D549-3F73-E143-4980D04A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9508D-E187-537B-EEC9-9993E2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3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3AE9E-DFD6-ACFD-057E-66FBE772A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2C9F-9F6E-6794-0ED2-5D836079D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F4C07-0A26-6C27-187B-62F91BF39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24E17-04A2-2365-AB54-354EB8477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2B989-4F8B-7BFB-41CF-599E051A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399D6-0554-A383-12AF-A316E811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6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E183-2815-A908-EB9B-ACD1CFAB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D4B1B-AC91-37F5-731A-C112189DD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80FD20-7DD0-96CE-1CAC-055109762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6E5FF-7101-EA79-09ED-B44809A643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D0380-4077-AFC3-BF23-1240C4385B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54BC1E-ABF6-0586-3655-FD73F292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3A98C1-E81B-1E4A-1F31-89F3AE991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C9E8D-4148-820E-57D5-512DAB88C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1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B8DDB-45E8-1C53-CBD3-DCB5ED480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724725-7BC9-6ACB-A4AD-B6F66A45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0CE0D-C4F0-22A7-0358-F6E519E9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8B287-6612-0403-BED0-D3C1A9B2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61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91DB2-E802-7AFC-B7EA-FA5B5E65F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2FBA1B-31EF-379D-9AE8-2774463BA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A3671-37C9-B54C-455A-766EDB67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1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039D9-817B-81F9-C229-88239E916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F73C9-DF23-4BC6-E06B-1DFCABA77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9E1EA-8C15-0835-3CC7-131B50BAD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33D11-9AC0-BF27-0BEE-778DC7462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0CC39-BBB0-EBBF-A601-895AF13C5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8F213-EE87-D9EC-8158-04FC6798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D373B-F9B1-BEC9-2A40-91695E13C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7B584A-91AD-7B69-B1D6-361D65040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E6777-1476-3961-752C-8C934EEAC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48A42-F4E2-4CC5-1E97-2E3413CA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010B1-22E2-F9E9-ED35-5AB1C3B7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D36D1-7831-1DC8-E6C7-D27C6A6B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2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6668-9D3A-D061-A3BF-FD741F10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94D26-4C59-9EB0-13F8-EAA6025BC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3DC48-EEB1-87AC-F2AD-04B37577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17C4-AFB6-0C7F-027E-EFA8A998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0A182-D752-25FA-2646-B36F40AB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1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B44D1-11BA-CAC5-75F7-0E456414D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E019B-EB60-C2C0-DBFB-6ABCFD97F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3AAFA-F124-7432-0142-F31C482F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7BC06-1239-DA51-DCEC-D126DAB5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E5F35-43A9-465F-1F8F-9D632DE5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8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597EA-8190-9BD3-1712-8D69C2D5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E4596-6FEE-C781-FF86-ED394E98E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E0631-8DD1-8457-0764-E85C1F2DA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6E711-0D29-49A5-9CED-93AB08EA2C6C}" type="datetimeFigureOut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574E4-2B78-217C-C6F8-38D6BEBC4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EDBA-13E0-6F83-52B7-9B09FDE5FE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41E7D-2B68-446F-A126-E9AC63EB7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07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E242-3DBB-C524-0D85-7485658AEC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Models Summary</a:t>
            </a:r>
          </a:p>
        </p:txBody>
      </p:sp>
    </p:spTree>
    <p:extLst>
      <p:ext uri="{BB962C8B-B14F-4D97-AF65-F5344CB8AC3E}">
        <p14:creationId xmlns:p14="http://schemas.microsoft.com/office/powerpoint/2010/main" val="4161559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D395-FA6C-11E3-EDF7-C55A253A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MLR (with feature selection)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7A53A-262A-7C59-61F2-3A0E58636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Chose a random K (=9) as different K values didn’t make such a difference in the results.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0A006C-D5E4-8C8F-8A7B-716EE0796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002526"/>
              </p:ext>
            </p:extLst>
          </p:nvPr>
        </p:nvGraphicFramePr>
        <p:xfrm>
          <a:off x="806032" y="2633472"/>
          <a:ext cx="10576889" cy="358635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80863">
                  <a:extLst>
                    <a:ext uri="{9D8B030D-6E8A-4147-A177-3AD203B41FA5}">
                      <a16:colId xmlns:a16="http://schemas.microsoft.com/office/drawing/2014/main" val="3374051117"/>
                    </a:ext>
                  </a:extLst>
                </a:gridCol>
                <a:gridCol w="4598013">
                  <a:extLst>
                    <a:ext uri="{9D8B030D-6E8A-4147-A177-3AD203B41FA5}">
                      <a16:colId xmlns:a16="http://schemas.microsoft.com/office/drawing/2014/main" val="1171289285"/>
                    </a:ext>
                  </a:extLst>
                </a:gridCol>
                <a:gridCol w="4598013">
                  <a:extLst>
                    <a:ext uri="{9D8B030D-6E8A-4147-A177-3AD203B41FA5}">
                      <a16:colId xmlns:a16="http://schemas.microsoft.com/office/drawing/2014/main" val="3178643292"/>
                    </a:ext>
                  </a:extLst>
                </a:gridCol>
              </a:tblGrid>
              <a:tr h="995777">
                <a:tc>
                  <a:txBody>
                    <a:bodyPr/>
                    <a:lstStyle/>
                    <a:p>
                      <a:endParaRPr lang="en-US" sz="4100" b="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46677" marB="2333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100" b="0" cap="none" spc="0" dirty="0">
                          <a:solidFill>
                            <a:schemeClr val="tx1"/>
                          </a:solidFill>
                        </a:rPr>
                        <a:t>Train</a:t>
                      </a:r>
                    </a:p>
                  </a:txBody>
                  <a:tcPr marL="0" marR="233385" marT="46677" marB="2333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100" b="0" cap="none" spc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</a:txBody>
                  <a:tcPr marL="0" marR="233385" marT="46677" marB="23338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545069"/>
                  </a:ext>
                </a:extLst>
              </a:tr>
              <a:tr h="863526">
                <a:tc>
                  <a:txBody>
                    <a:bodyPr/>
                    <a:lstStyle/>
                    <a:p>
                      <a:r>
                        <a:rPr lang="en-US" sz="3100" cap="none" spc="0" dirty="0" err="1">
                          <a:solidFill>
                            <a:schemeClr val="tx1"/>
                          </a:solidFill>
                        </a:rPr>
                        <a:t>rmse</a:t>
                      </a:r>
                      <a:endParaRPr lang="en-US" sz="3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0.9615228986423675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0.9624053118173858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61925"/>
                  </a:ext>
                </a:extLst>
              </a:tr>
              <a:tr h="863526">
                <a:tc>
                  <a:txBody>
                    <a:bodyPr/>
                    <a:lstStyle/>
                    <a:p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std</a:t>
                      </a: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0.9876521360514302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0.988269758329151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50116"/>
                  </a:ext>
                </a:extLst>
              </a:tr>
              <a:tr h="863526">
                <a:tc>
                  <a:txBody>
                    <a:bodyPr/>
                    <a:lstStyle/>
                    <a:p>
                      <a:r>
                        <a:rPr lang="en-US" sz="3100" cap="none" spc="0">
                          <a:solidFill>
                            <a:schemeClr val="tx1"/>
                          </a:solidFill>
                        </a:rPr>
                        <a:t>r2</a:t>
                      </a: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0.05221098139430248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0.051642943981325864</a:t>
                      </a:r>
                      <a:endParaRPr lang="en-US" sz="3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233385" marT="70016" marB="23338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304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40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D395-FA6C-11E3-EDF7-C55A253A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MLR (with feature selection)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en and white rectangle with black border&#10;&#10;Description automatically generated">
            <a:extLst>
              <a:ext uri="{FF2B5EF4-FFF2-40B4-BE49-F238E27FC236}">
                <a16:creationId xmlns:a16="http://schemas.microsoft.com/office/drawing/2014/main" id="{FA2863A2-5B33-BEE2-329C-D5749873C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918" y="2066258"/>
            <a:ext cx="8158163" cy="474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3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D395-FA6C-11E3-EDF7-C55A253A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MLR Coefficients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03F6E-8284-CBF4-7EED-4937765B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281" y="1779261"/>
            <a:ext cx="8070779" cy="507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74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D395-FA6C-11E3-EDF7-C55A253A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Random Forests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0A006C-D5E4-8C8F-8A7B-716EE0796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840374"/>
              </p:ext>
            </p:extLst>
          </p:nvPr>
        </p:nvGraphicFramePr>
        <p:xfrm>
          <a:off x="320040" y="2893300"/>
          <a:ext cx="11548872" cy="3066700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1950444">
                  <a:extLst>
                    <a:ext uri="{9D8B030D-6E8A-4147-A177-3AD203B41FA5}">
                      <a16:colId xmlns:a16="http://schemas.microsoft.com/office/drawing/2014/main" val="3374051117"/>
                    </a:ext>
                  </a:extLst>
                </a:gridCol>
                <a:gridCol w="4799214">
                  <a:extLst>
                    <a:ext uri="{9D8B030D-6E8A-4147-A177-3AD203B41FA5}">
                      <a16:colId xmlns:a16="http://schemas.microsoft.com/office/drawing/2014/main" val="1171289285"/>
                    </a:ext>
                  </a:extLst>
                </a:gridCol>
                <a:gridCol w="4799214">
                  <a:extLst>
                    <a:ext uri="{9D8B030D-6E8A-4147-A177-3AD203B41FA5}">
                      <a16:colId xmlns:a16="http://schemas.microsoft.com/office/drawing/2014/main" val="3178643292"/>
                    </a:ext>
                  </a:extLst>
                </a:gridCol>
              </a:tblGrid>
              <a:tr h="766675">
                <a:tc>
                  <a:txBody>
                    <a:bodyPr/>
                    <a:lstStyle/>
                    <a:p>
                      <a:endParaRPr lang="en-US" sz="25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210566" marR="161973" marT="161973" marB="161973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0" cap="none" spc="0" dirty="0">
                          <a:solidFill>
                            <a:schemeClr val="bg1"/>
                          </a:solidFill>
                        </a:rPr>
                        <a:t>Train</a:t>
                      </a:r>
                    </a:p>
                  </a:txBody>
                  <a:tcPr marL="210566" marR="161973" marT="161973" marB="1619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500" b="0" cap="none" spc="0">
                          <a:solidFill>
                            <a:schemeClr val="bg1"/>
                          </a:solidFill>
                        </a:rPr>
                        <a:t>Test</a:t>
                      </a:r>
                    </a:p>
                  </a:txBody>
                  <a:tcPr marL="210566" marR="161973" marT="161973" marB="16197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545069"/>
                  </a:ext>
                </a:extLst>
              </a:tr>
              <a:tr h="766675">
                <a:tc>
                  <a:txBody>
                    <a:bodyPr/>
                    <a:lstStyle/>
                    <a:p>
                      <a:r>
                        <a:rPr lang="en-US" sz="2500" cap="none" spc="0" err="1">
                          <a:solidFill>
                            <a:schemeClr val="tx1"/>
                          </a:solidFill>
                        </a:rPr>
                        <a:t>rmse</a:t>
                      </a:r>
                      <a:endParaRPr lang="en-US" sz="25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10566" marR="161973" marT="161973" marB="161973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0.7626362907315902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10566" marR="161973" marT="161973" marB="16197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0.7988426092587032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10566" marR="161973" marT="161973" marB="16197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61925"/>
                  </a:ext>
                </a:extLst>
              </a:tr>
              <a:tr h="766675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std</a:t>
                      </a:r>
                    </a:p>
                  </a:txBody>
                  <a:tcPr marL="210566" marR="161973" marT="161973" marB="161973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0.9915126574576983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10566" marR="161973" marT="161973" marB="161973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0.989368128767932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10566" marR="161973" marT="161973" marB="161973">
                    <a:lnL w="6350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550116"/>
                  </a:ext>
                </a:extLst>
              </a:tr>
              <a:tr h="766675">
                <a:tc>
                  <a:txBody>
                    <a:bodyPr/>
                    <a:lstStyle/>
                    <a:p>
                      <a:r>
                        <a:rPr lang="en-US" sz="2500" cap="none" spc="0">
                          <a:solidFill>
                            <a:schemeClr val="tx1"/>
                          </a:solidFill>
                        </a:rPr>
                        <a:t>r2</a:t>
                      </a:r>
                    </a:p>
                  </a:txBody>
                  <a:tcPr marL="210566" marR="161973" marT="161973" marB="161973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0.4083752501770385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10566" marR="161973" marT="161973" marB="16197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0.34800890884435587</a:t>
                      </a:r>
                      <a:endParaRPr lang="en-US" sz="2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210566" marR="161973" marT="161973" marB="161973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304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779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D395-FA6C-11E3-EDF7-C55A253A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Random Forests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AF7AA2-F90E-8240-6B61-F6FA9D903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483" y="2102834"/>
            <a:ext cx="7407033" cy="41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D395-FA6C-11E3-EDF7-C55A253A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Random Forests Coefficients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03E020-DB5A-F579-5609-D90FB61B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141" y="1914763"/>
            <a:ext cx="7645718" cy="486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60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11D395-FA6C-11E3-EDF7-C55A253A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0A006C-D5E4-8C8F-8A7B-716EE0796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78686"/>
              </p:ext>
            </p:extLst>
          </p:nvPr>
        </p:nvGraphicFramePr>
        <p:xfrm>
          <a:off x="455253" y="2951416"/>
          <a:ext cx="11278448" cy="2950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>
                  <a:extLst>
                    <a:ext uri="{9D8B030D-6E8A-4147-A177-3AD203B41FA5}">
                      <a16:colId xmlns:a16="http://schemas.microsoft.com/office/drawing/2014/main" val="3374051117"/>
                    </a:ext>
                  </a:extLst>
                </a:gridCol>
                <a:gridCol w="4884844">
                  <a:extLst>
                    <a:ext uri="{9D8B030D-6E8A-4147-A177-3AD203B41FA5}">
                      <a16:colId xmlns:a16="http://schemas.microsoft.com/office/drawing/2014/main" val="1171289285"/>
                    </a:ext>
                  </a:extLst>
                </a:gridCol>
                <a:gridCol w="4884844">
                  <a:extLst>
                    <a:ext uri="{9D8B030D-6E8A-4147-A177-3AD203B41FA5}">
                      <a16:colId xmlns:a16="http://schemas.microsoft.com/office/drawing/2014/main" val="3178643292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endParaRPr lang="en-US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Train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Test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3554506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rmse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0.8936846979978159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0.8907792276632833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20561925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std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0.9898609517585045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0.979363398542771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06855011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US" sz="3300"/>
                        <a:t>r2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0.18430576601946377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0.17233886958869074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22304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97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3518</TotalTime>
  <Words>77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Models Summary</vt:lpstr>
      <vt:lpstr>MLR (with feature selection)</vt:lpstr>
      <vt:lpstr>MLR (with feature selection)</vt:lpstr>
      <vt:lpstr>MLR Coefficients</vt:lpstr>
      <vt:lpstr>Random Forests</vt:lpstr>
      <vt:lpstr>Random Forests</vt:lpstr>
      <vt:lpstr>Random Forests Coefficients</vt:lpstr>
      <vt:lpstr>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Summary</dc:title>
  <dc:creator>ליאב כהן</dc:creator>
  <cp:lastModifiedBy>ליאב כהן</cp:lastModifiedBy>
  <cp:revision>18</cp:revision>
  <dcterms:created xsi:type="dcterms:W3CDTF">2023-12-04T13:37:48Z</dcterms:created>
  <dcterms:modified xsi:type="dcterms:W3CDTF">2023-12-13T13:22:15Z</dcterms:modified>
</cp:coreProperties>
</file>