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75" r:id="rId3"/>
    <p:sldId id="274" r:id="rId4"/>
    <p:sldId id="279" r:id="rId5"/>
    <p:sldId id="264" r:id="rId6"/>
    <p:sldId id="257" r:id="rId7"/>
    <p:sldId id="261" r:id="rId8"/>
    <p:sldId id="262" r:id="rId9"/>
    <p:sldId id="265" r:id="rId10"/>
    <p:sldId id="266" r:id="rId11"/>
    <p:sldId id="267" r:id="rId12"/>
    <p:sldId id="268" r:id="rId13"/>
    <p:sldId id="278" r:id="rId14"/>
    <p:sldId id="269" r:id="rId15"/>
    <p:sldId id="258" r:id="rId16"/>
    <p:sldId id="260" r:id="rId17"/>
    <p:sldId id="277" r:id="rId18"/>
    <p:sldId id="270" r:id="rId19"/>
    <p:sldId id="271" r:id="rId20"/>
    <p:sldId id="272" r:id="rId21"/>
    <p:sldId id="276"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42" d="100"/>
          <a:sy n="42" d="100"/>
        </p:scale>
        <p:origin x="54" y="57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53369F-0137-071E-266F-32015224AD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79FC021-1F65-62E1-11A2-609AB5EFDD4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241A268-7C9C-E6A1-37DB-3CC727C88CC0}"/>
              </a:ext>
            </a:extLst>
          </p:cNvPr>
          <p:cNvSpPr>
            <a:spLocks noGrp="1"/>
          </p:cNvSpPr>
          <p:nvPr>
            <p:ph type="dt" sz="half" idx="10"/>
          </p:nvPr>
        </p:nvSpPr>
        <p:spPr/>
        <p:txBody>
          <a:bodyPr/>
          <a:lstStyle/>
          <a:p>
            <a:fld id="{5B76E711-0D29-49A5-9CED-93AB08EA2C6C}" type="datetimeFigureOut">
              <a:rPr lang="en-US" smtClean="0"/>
              <a:t>1/28/2024</a:t>
            </a:fld>
            <a:endParaRPr lang="en-US"/>
          </a:p>
        </p:txBody>
      </p:sp>
      <p:sp>
        <p:nvSpPr>
          <p:cNvPr id="5" name="Footer Placeholder 4">
            <a:extLst>
              <a:ext uri="{FF2B5EF4-FFF2-40B4-BE49-F238E27FC236}">
                <a16:creationId xmlns:a16="http://schemas.microsoft.com/office/drawing/2014/main" id="{696B41A5-1161-6994-8061-28595D9B4FE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2D437D6-CAC1-F1AD-272C-DA6CC4E437A0}"/>
              </a:ext>
            </a:extLst>
          </p:cNvPr>
          <p:cNvSpPr>
            <a:spLocks noGrp="1"/>
          </p:cNvSpPr>
          <p:nvPr>
            <p:ph type="sldNum" sz="quarter" idx="12"/>
          </p:nvPr>
        </p:nvSpPr>
        <p:spPr/>
        <p:txBody>
          <a:bodyPr/>
          <a:lstStyle/>
          <a:p>
            <a:fld id="{F7F41E7D-2B68-446F-A126-E9AC63EB703A}" type="slidenum">
              <a:rPr lang="en-US" smtClean="0"/>
              <a:t>‹#›</a:t>
            </a:fld>
            <a:endParaRPr lang="en-US"/>
          </a:p>
        </p:txBody>
      </p:sp>
    </p:spTree>
    <p:extLst>
      <p:ext uri="{BB962C8B-B14F-4D97-AF65-F5344CB8AC3E}">
        <p14:creationId xmlns:p14="http://schemas.microsoft.com/office/powerpoint/2010/main" val="27046651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2586BA-5A5E-8ECD-14EB-7D35FCEE53A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9953132-86B5-554C-E5A8-188CE5D2AB8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0E294B-3EB5-2699-9F4F-A23AE4402909}"/>
              </a:ext>
            </a:extLst>
          </p:cNvPr>
          <p:cNvSpPr>
            <a:spLocks noGrp="1"/>
          </p:cNvSpPr>
          <p:nvPr>
            <p:ph type="dt" sz="half" idx="10"/>
          </p:nvPr>
        </p:nvSpPr>
        <p:spPr/>
        <p:txBody>
          <a:bodyPr/>
          <a:lstStyle/>
          <a:p>
            <a:fld id="{5B76E711-0D29-49A5-9CED-93AB08EA2C6C}" type="datetimeFigureOut">
              <a:rPr lang="en-US" smtClean="0"/>
              <a:t>1/28/2024</a:t>
            </a:fld>
            <a:endParaRPr lang="en-US"/>
          </a:p>
        </p:txBody>
      </p:sp>
      <p:sp>
        <p:nvSpPr>
          <p:cNvPr id="5" name="Footer Placeholder 4">
            <a:extLst>
              <a:ext uri="{FF2B5EF4-FFF2-40B4-BE49-F238E27FC236}">
                <a16:creationId xmlns:a16="http://schemas.microsoft.com/office/drawing/2014/main" id="{1071B18C-CFAD-2AE0-9997-2D8FE6289CA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ECC747C-6A9B-9DB2-596D-04ABF62A1B7D}"/>
              </a:ext>
            </a:extLst>
          </p:cNvPr>
          <p:cNvSpPr>
            <a:spLocks noGrp="1"/>
          </p:cNvSpPr>
          <p:nvPr>
            <p:ph type="sldNum" sz="quarter" idx="12"/>
          </p:nvPr>
        </p:nvSpPr>
        <p:spPr/>
        <p:txBody>
          <a:bodyPr/>
          <a:lstStyle/>
          <a:p>
            <a:fld id="{F7F41E7D-2B68-446F-A126-E9AC63EB703A}" type="slidenum">
              <a:rPr lang="en-US" smtClean="0"/>
              <a:t>‹#›</a:t>
            </a:fld>
            <a:endParaRPr lang="en-US"/>
          </a:p>
        </p:txBody>
      </p:sp>
    </p:spTree>
    <p:extLst>
      <p:ext uri="{BB962C8B-B14F-4D97-AF65-F5344CB8AC3E}">
        <p14:creationId xmlns:p14="http://schemas.microsoft.com/office/powerpoint/2010/main" val="8258608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9FC5CE-12F5-CDB1-4DD7-F17D048E0B5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24A8DDA-4746-FABD-4A1A-01509346F30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F1BC1CF-646F-0D35-9C64-34D5E32FCB8A}"/>
              </a:ext>
            </a:extLst>
          </p:cNvPr>
          <p:cNvSpPr>
            <a:spLocks noGrp="1"/>
          </p:cNvSpPr>
          <p:nvPr>
            <p:ph type="dt" sz="half" idx="10"/>
          </p:nvPr>
        </p:nvSpPr>
        <p:spPr/>
        <p:txBody>
          <a:bodyPr/>
          <a:lstStyle/>
          <a:p>
            <a:fld id="{5B76E711-0D29-49A5-9CED-93AB08EA2C6C}" type="datetimeFigureOut">
              <a:rPr lang="en-US" smtClean="0"/>
              <a:t>1/28/2024</a:t>
            </a:fld>
            <a:endParaRPr lang="en-US"/>
          </a:p>
        </p:txBody>
      </p:sp>
      <p:sp>
        <p:nvSpPr>
          <p:cNvPr id="5" name="Footer Placeholder 4">
            <a:extLst>
              <a:ext uri="{FF2B5EF4-FFF2-40B4-BE49-F238E27FC236}">
                <a16:creationId xmlns:a16="http://schemas.microsoft.com/office/drawing/2014/main" id="{6EF5DE9A-D549-3F73-E143-4980D04A3B1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2C9508D-E187-537B-EEC9-9993E2AD367D}"/>
              </a:ext>
            </a:extLst>
          </p:cNvPr>
          <p:cNvSpPr>
            <a:spLocks noGrp="1"/>
          </p:cNvSpPr>
          <p:nvPr>
            <p:ph type="sldNum" sz="quarter" idx="12"/>
          </p:nvPr>
        </p:nvSpPr>
        <p:spPr/>
        <p:txBody>
          <a:bodyPr/>
          <a:lstStyle/>
          <a:p>
            <a:fld id="{F7F41E7D-2B68-446F-A126-E9AC63EB703A}" type="slidenum">
              <a:rPr lang="en-US" smtClean="0"/>
              <a:t>‹#›</a:t>
            </a:fld>
            <a:endParaRPr lang="en-US"/>
          </a:p>
        </p:txBody>
      </p:sp>
    </p:spTree>
    <p:extLst>
      <p:ext uri="{BB962C8B-B14F-4D97-AF65-F5344CB8AC3E}">
        <p14:creationId xmlns:p14="http://schemas.microsoft.com/office/powerpoint/2010/main" val="11663362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A3AE9E-DFD6-ACFD-057E-66FBE772A50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D282C9F-9F6E-6794-0ED2-5D836079D0E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F5F4C07-0A26-6C27-187B-62F91BF396B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BD24E17-04A2-2365-AB54-354EB8477B3C}"/>
              </a:ext>
            </a:extLst>
          </p:cNvPr>
          <p:cNvSpPr>
            <a:spLocks noGrp="1"/>
          </p:cNvSpPr>
          <p:nvPr>
            <p:ph type="dt" sz="half" idx="10"/>
          </p:nvPr>
        </p:nvSpPr>
        <p:spPr/>
        <p:txBody>
          <a:bodyPr/>
          <a:lstStyle/>
          <a:p>
            <a:fld id="{5B76E711-0D29-49A5-9CED-93AB08EA2C6C}" type="datetimeFigureOut">
              <a:rPr lang="en-US" smtClean="0"/>
              <a:t>1/28/2024</a:t>
            </a:fld>
            <a:endParaRPr lang="en-US"/>
          </a:p>
        </p:txBody>
      </p:sp>
      <p:sp>
        <p:nvSpPr>
          <p:cNvPr id="6" name="Footer Placeholder 5">
            <a:extLst>
              <a:ext uri="{FF2B5EF4-FFF2-40B4-BE49-F238E27FC236}">
                <a16:creationId xmlns:a16="http://schemas.microsoft.com/office/drawing/2014/main" id="{F592B989-4F8B-7BFB-41CF-599E051AF54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AA399D6-0554-A383-12AF-A316E811C2AA}"/>
              </a:ext>
            </a:extLst>
          </p:cNvPr>
          <p:cNvSpPr>
            <a:spLocks noGrp="1"/>
          </p:cNvSpPr>
          <p:nvPr>
            <p:ph type="sldNum" sz="quarter" idx="12"/>
          </p:nvPr>
        </p:nvSpPr>
        <p:spPr/>
        <p:txBody>
          <a:bodyPr/>
          <a:lstStyle/>
          <a:p>
            <a:fld id="{F7F41E7D-2B68-446F-A126-E9AC63EB703A}" type="slidenum">
              <a:rPr lang="en-US" smtClean="0"/>
              <a:t>‹#›</a:t>
            </a:fld>
            <a:endParaRPr lang="en-US"/>
          </a:p>
        </p:txBody>
      </p:sp>
    </p:spTree>
    <p:extLst>
      <p:ext uri="{BB962C8B-B14F-4D97-AF65-F5344CB8AC3E}">
        <p14:creationId xmlns:p14="http://schemas.microsoft.com/office/powerpoint/2010/main" val="32592667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CAE183-2815-A908-EB9B-ACD1CFABBBB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ABD4B1B-AC91-37F5-731A-C112189DD5A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880FD20-7DD0-96CE-1CAC-05510976273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666E5FF-7101-EA79-09ED-B44809A643A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C6D0380-4077-AFC3-BF23-1240C4385B9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354BC1E-ABF6-0586-3655-FD73F2924879}"/>
              </a:ext>
            </a:extLst>
          </p:cNvPr>
          <p:cNvSpPr>
            <a:spLocks noGrp="1"/>
          </p:cNvSpPr>
          <p:nvPr>
            <p:ph type="dt" sz="half" idx="10"/>
          </p:nvPr>
        </p:nvSpPr>
        <p:spPr/>
        <p:txBody>
          <a:bodyPr/>
          <a:lstStyle/>
          <a:p>
            <a:fld id="{5B76E711-0D29-49A5-9CED-93AB08EA2C6C}" type="datetimeFigureOut">
              <a:rPr lang="en-US" smtClean="0"/>
              <a:t>1/28/2024</a:t>
            </a:fld>
            <a:endParaRPr lang="en-US"/>
          </a:p>
        </p:txBody>
      </p:sp>
      <p:sp>
        <p:nvSpPr>
          <p:cNvPr id="8" name="Footer Placeholder 7">
            <a:extLst>
              <a:ext uri="{FF2B5EF4-FFF2-40B4-BE49-F238E27FC236}">
                <a16:creationId xmlns:a16="http://schemas.microsoft.com/office/drawing/2014/main" id="{1F3A98C1-E81B-1E4A-1F31-89F3AE991CF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30C9E8D-4148-820E-57D5-512DAB88C980}"/>
              </a:ext>
            </a:extLst>
          </p:cNvPr>
          <p:cNvSpPr>
            <a:spLocks noGrp="1"/>
          </p:cNvSpPr>
          <p:nvPr>
            <p:ph type="sldNum" sz="quarter" idx="12"/>
          </p:nvPr>
        </p:nvSpPr>
        <p:spPr/>
        <p:txBody>
          <a:bodyPr/>
          <a:lstStyle/>
          <a:p>
            <a:fld id="{F7F41E7D-2B68-446F-A126-E9AC63EB703A}" type="slidenum">
              <a:rPr lang="en-US" smtClean="0"/>
              <a:t>‹#›</a:t>
            </a:fld>
            <a:endParaRPr lang="en-US"/>
          </a:p>
        </p:txBody>
      </p:sp>
    </p:spTree>
    <p:extLst>
      <p:ext uri="{BB962C8B-B14F-4D97-AF65-F5344CB8AC3E}">
        <p14:creationId xmlns:p14="http://schemas.microsoft.com/office/powerpoint/2010/main" val="42693165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9B8DDB-45E8-1C53-CBD3-DCB5ED480D7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4724725-7BC9-6ACB-A4AD-B6F66A455300}"/>
              </a:ext>
            </a:extLst>
          </p:cNvPr>
          <p:cNvSpPr>
            <a:spLocks noGrp="1"/>
          </p:cNvSpPr>
          <p:nvPr>
            <p:ph type="dt" sz="half" idx="10"/>
          </p:nvPr>
        </p:nvSpPr>
        <p:spPr/>
        <p:txBody>
          <a:bodyPr/>
          <a:lstStyle/>
          <a:p>
            <a:fld id="{5B76E711-0D29-49A5-9CED-93AB08EA2C6C}" type="datetimeFigureOut">
              <a:rPr lang="en-US" smtClean="0"/>
              <a:t>1/28/2024</a:t>
            </a:fld>
            <a:endParaRPr lang="en-US"/>
          </a:p>
        </p:txBody>
      </p:sp>
      <p:sp>
        <p:nvSpPr>
          <p:cNvPr id="4" name="Footer Placeholder 3">
            <a:extLst>
              <a:ext uri="{FF2B5EF4-FFF2-40B4-BE49-F238E27FC236}">
                <a16:creationId xmlns:a16="http://schemas.microsoft.com/office/drawing/2014/main" id="{6FB0CE0D-C4F0-22A7-0358-F6E519E951C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FF8B287-6612-0403-BED0-D3C1A9B2A7D4}"/>
              </a:ext>
            </a:extLst>
          </p:cNvPr>
          <p:cNvSpPr>
            <a:spLocks noGrp="1"/>
          </p:cNvSpPr>
          <p:nvPr>
            <p:ph type="sldNum" sz="quarter" idx="12"/>
          </p:nvPr>
        </p:nvSpPr>
        <p:spPr/>
        <p:txBody>
          <a:bodyPr/>
          <a:lstStyle/>
          <a:p>
            <a:fld id="{F7F41E7D-2B68-446F-A126-E9AC63EB703A}" type="slidenum">
              <a:rPr lang="en-US" smtClean="0"/>
              <a:t>‹#›</a:t>
            </a:fld>
            <a:endParaRPr lang="en-US"/>
          </a:p>
        </p:txBody>
      </p:sp>
    </p:spTree>
    <p:extLst>
      <p:ext uri="{BB962C8B-B14F-4D97-AF65-F5344CB8AC3E}">
        <p14:creationId xmlns:p14="http://schemas.microsoft.com/office/powerpoint/2010/main" val="14326615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0191DB2-E802-7AFC-B7EA-FA5B5E65FB42}"/>
              </a:ext>
            </a:extLst>
          </p:cNvPr>
          <p:cNvSpPr>
            <a:spLocks noGrp="1"/>
          </p:cNvSpPr>
          <p:nvPr>
            <p:ph type="dt" sz="half" idx="10"/>
          </p:nvPr>
        </p:nvSpPr>
        <p:spPr/>
        <p:txBody>
          <a:bodyPr/>
          <a:lstStyle/>
          <a:p>
            <a:fld id="{5B76E711-0D29-49A5-9CED-93AB08EA2C6C}" type="datetimeFigureOut">
              <a:rPr lang="en-US" smtClean="0"/>
              <a:t>1/28/2024</a:t>
            </a:fld>
            <a:endParaRPr lang="en-US"/>
          </a:p>
        </p:txBody>
      </p:sp>
      <p:sp>
        <p:nvSpPr>
          <p:cNvPr id="3" name="Footer Placeholder 2">
            <a:extLst>
              <a:ext uri="{FF2B5EF4-FFF2-40B4-BE49-F238E27FC236}">
                <a16:creationId xmlns:a16="http://schemas.microsoft.com/office/drawing/2014/main" id="{4D2FBA1B-31EF-379D-9AE8-2774463BAE9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B2A3671-37C9-B54C-455A-766EDB67AB76}"/>
              </a:ext>
            </a:extLst>
          </p:cNvPr>
          <p:cNvSpPr>
            <a:spLocks noGrp="1"/>
          </p:cNvSpPr>
          <p:nvPr>
            <p:ph type="sldNum" sz="quarter" idx="12"/>
          </p:nvPr>
        </p:nvSpPr>
        <p:spPr/>
        <p:txBody>
          <a:bodyPr/>
          <a:lstStyle/>
          <a:p>
            <a:fld id="{F7F41E7D-2B68-446F-A126-E9AC63EB703A}" type="slidenum">
              <a:rPr lang="en-US" smtClean="0"/>
              <a:t>‹#›</a:t>
            </a:fld>
            <a:endParaRPr lang="en-US"/>
          </a:p>
        </p:txBody>
      </p:sp>
    </p:spTree>
    <p:extLst>
      <p:ext uri="{BB962C8B-B14F-4D97-AF65-F5344CB8AC3E}">
        <p14:creationId xmlns:p14="http://schemas.microsoft.com/office/powerpoint/2010/main" val="405321620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0039D9-817B-81F9-C229-88239E916BC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56F73C9-DF23-4BC6-E06B-1DFCABA77A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039E1EA-8C15-0835-3CC7-131B50BAD4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8C33D11-9AC0-BF27-0BEE-778DC7462DB0}"/>
              </a:ext>
            </a:extLst>
          </p:cNvPr>
          <p:cNvSpPr>
            <a:spLocks noGrp="1"/>
          </p:cNvSpPr>
          <p:nvPr>
            <p:ph type="dt" sz="half" idx="10"/>
          </p:nvPr>
        </p:nvSpPr>
        <p:spPr/>
        <p:txBody>
          <a:bodyPr/>
          <a:lstStyle/>
          <a:p>
            <a:fld id="{5B76E711-0D29-49A5-9CED-93AB08EA2C6C}" type="datetimeFigureOut">
              <a:rPr lang="en-US" smtClean="0"/>
              <a:t>1/28/2024</a:t>
            </a:fld>
            <a:endParaRPr lang="en-US"/>
          </a:p>
        </p:txBody>
      </p:sp>
      <p:sp>
        <p:nvSpPr>
          <p:cNvPr id="6" name="Footer Placeholder 5">
            <a:extLst>
              <a:ext uri="{FF2B5EF4-FFF2-40B4-BE49-F238E27FC236}">
                <a16:creationId xmlns:a16="http://schemas.microsoft.com/office/drawing/2014/main" id="{5230CC39-BBB0-EBBF-A601-895AF13C5BD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F28F213-EE87-D9EC-8158-04FC679849E4}"/>
              </a:ext>
            </a:extLst>
          </p:cNvPr>
          <p:cNvSpPr>
            <a:spLocks noGrp="1"/>
          </p:cNvSpPr>
          <p:nvPr>
            <p:ph type="sldNum" sz="quarter" idx="12"/>
          </p:nvPr>
        </p:nvSpPr>
        <p:spPr/>
        <p:txBody>
          <a:bodyPr/>
          <a:lstStyle/>
          <a:p>
            <a:fld id="{F7F41E7D-2B68-446F-A126-E9AC63EB703A}" type="slidenum">
              <a:rPr lang="en-US" smtClean="0"/>
              <a:t>‹#›</a:t>
            </a:fld>
            <a:endParaRPr lang="en-US"/>
          </a:p>
        </p:txBody>
      </p:sp>
    </p:spTree>
    <p:extLst>
      <p:ext uri="{BB962C8B-B14F-4D97-AF65-F5344CB8AC3E}">
        <p14:creationId xmlns:p14="http://schemas.microsoft.com/office/powerpoint/2010/main" val="36000876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3D373B-F9B1-BEC9-2A40-91695E13C1A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07B584A-91AD-7B69-B1D6-361D650406A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EE6777-1476-3961-752C-8C934EEAC7C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DA48A42-F4E2-4CC5-1E97-2E3413CA1DDB}"/>
              </a:ext>
            </a:extLst>
          </p:cNvPr>
          <p:cNvSpPr>
            <a:spLocks noGrp="1"/>
          </p:cNvSpPr>
          <p:nvPr>
            <p:ph type="dt" sz="half" idx="10"/>
          </p:nvPr>
        </p:nvSpPr>
        <p:spPr/>
        <p:txBody>
          <a:bodyPr/>
          <a:lstStyle/>
          <a:p>
            <a:fld id="{5B76E711-0D29-49A5-9CED-93AB08EA2C6C}" type="datetimeFigureOut">
              <a:rPr lang="en-US" smtClean="0"/>
              <a:t>1/28/2024</a:t>
            </a:fld>
            <a:endParaRPr lang="en-US"/>
          </a:p>
        </p:txBody>
      </p:sp>
      <p:sp>
        <p:nvSpPr>
          <p:cNvPr id="6" name="Footer Placeholder 5">
            <a:extLst>
              <a:ext uri="{FF2B5EF4-FFF2-40B4-BE49-F238E27FC236}">
                <a16:creationId xmlns:a16="http://schemas.microsoft.com/office/drawing/2014/main" id="{66E010B1-22E2-F9E9-ED35-5AB1C3B73E0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A6D36D1-7831-1DC8-E6C7-D27C6A6B9346}"/>
              </a:ext>
            </a:extLst>
          </p:cNvPr>
          <p:cNvSpPr>
            <a:spLocks noGrp="1"/>
          </p:cNvSpPr>
          <p:nvPr>
            <p:ph type="sldNum" sz="quarter" idx="12"/>
          </p:nvPr>
        </p:nvSpPr>
        <p:spPr/>
        <p:txBody>
          <a:bodyPr/>
          <a:lstStyle/>
          <a:p>
            <a:fld id="{F7F41E7D-2B68-446F-A126-E9AC63EB703A}" type="slidenum">
              <a:rPr lang="en-US" smtClean="0"/>
              <a:t>‹#›</a:t>
            </a:fld>
            <a:endParaRPr lang="en-US"/>
          </a:p>
        </p:txBody>
      </p:sp>
    </p:spTree>
    <p:extLst>
      <p:ext uri="{BB962C8B-B14F-4D97-AF65-F5344CB8AC3E}">
        <p14:creationId xmlns:p14="http://schemas.microsoft.com/office/powerpoint/2010/main" val="40702236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76668-9D3A-D061-A3BF-FD741F10041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5F94D26-4C59-9EB0-13F8-EAA6025BCF9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7A3DC48-EEB1-87AC-F2AD-04B375770E85}"/>
              </a:ext>
            </a:extLst>
          </p:cNvPr>
          <p:cNvSpPr>
            <a:spLocks noGrp="1"/>
          </p:cNvSpPr>
          <p:nvPr>
            <p:ph type="dt" sz="half" idx="10"/>
          </p:nvPr>
        </p:nvSpPr>
        <p:spPr/>
        <p:txBody>
          <a:bodyPr/>
          <a:lstStyle/>
          <a:p>
            <a:fld id="{5B76E711-0D29-49A5-9CED-93AB08EA2C6C}" type="datetimeFigureOut">
              <a:rPr lang="en-US" smtClean="0"/>
              <a:t>1/28/2024</a:t>
            </a:fld>
            <a:endParaRPr lang="en-US"/>
          </a:p>
        </p:txBody>
      </p:sp>
      <p:sp>
        <p:nvSpPr>
          <p:cNvPr id="5" name="Footer Placeholder 4">
            <a:extLst>
              <a:ext uri="{FF2B5EF4-FFF2-40B4-BE49-F238E27FC236}">
                <a16:creationId xmlns:a16="http://schemas.microsoft.com/office/drawing/2014/main" id="{C46217C4-AFB6-0C7F-027E-EFA8A99852D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760A182-D752-25FA-2646-B36F40AB8C34}"/>
              </a:ext>
            </a:extLst>
          </p:cNvPr>
          <p:cNvSpPr>
            <a:spLocks noGrp="1"/>
          </p:cNvSpPr>
          <p:nvPr>
            <p:ph type="sldNum" sz="quarter" idx="12"/>
          </p:nvPr>
        </p:nvSpPr>
        <p:spPr/>
        <p:txBody>
          <a:bodyPr/>
          <a:lstStyle/>
          <a:p>
            <a:fld id="{F7F41E7D-2B68-446F-A126-E9AC63EB703A}" type="slidenum">
              <a:rPr lang="en-US" smtClean="0"/>
              <a:t>‹#›</a:t>
            </a:fld>
            <a:endParaRPr lang="en-US"/>
          </a:p>
        </p:txBody>
      </p:sp>
    </p:spTree>
    <p:extLst>
      <p:ext uri="{BB962C8B-B14F-4D97-AF65-F5344CB8AC3E}">
        <p14:creationId xmlns:p14="http://schemas.microsoft.com/office/powerpoint/2010/main" val="5471139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E8B44D1-11BA-CAC5-75F7-0E456414D87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69E019B-EB60-C2C0-DBFB-6ABCFD97F37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A3AAFA-F124-7432-0142-F31C482F36CE}"/>
              </a:ext>
            </a:extLst>
          </p:cNvPr>
          <p:cNvSpPr>
            <a:spLocks noGrp="1"/>
          </p:cNvSpPr>
          <p:nvPr>
            <p:ph type="dt" sz="half" idx="10"/>
          </p:nvPr>
        </p:nvSpPr>
        <p:spPr/>
        <p:txBody>
          <a:bodyPr/>
          <a:lstStyle/>
          <a:p>
            <a:fld id="{5B76E711-0D29-49A5-9CED-93AB08EA2C6C}" type="datetimeFigureOut">
              <a:rPr lang="en-US" smtClean="0"/>
              <a:t>1/28/2024</a:t>
            </a:fld>
            <a:endParaRPr lang="en-US"/>
          </a:p>
        </p:txBody>
      </p:sp>
      <p:sp>
        <p:nvSpPr>
          <p:cNvPr id="5" name="Footer Placeholder 4">
            <a:extLst>
              <a:ext uri="{FF2B5EF4-FFF2-40B4-BE49-F238E27FC236}">
                <a16:creationId xmlns:a16="http://schemas.microsoft.com/office/drawing/2014/main" id="{CE77BC06-1239-DA51-DCEC-D126DAB53C3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71E5F35-43A9-465F-1F8F-9D632DE5AECA}"/>
              </a:ext>
            </a:extLst>
          </p:cNvPr>
          <p:cNvSpPr>
            <a:spLocks noGrp="1"/>
          </p:cNvSpPr>
          <p:nvPr>
            <p:ph type="sldNum" sz="quarter" idx="12"/>
          </p:nvPr>
        </p:nvSpPr>
        <p:spPr/>
        <p:txBody>
          <a:bodyPr/>
          <a:lstStyle/>
          <a:p>
            <a:fld id="{F7F41E7D-2B68-446F-A126-E9AC63EB703A}" type="slidenum">
              <a:rPr lang="en-US" smtClean="0"/>
              <a:t>‹#›</a:t>
            </a:fld>
            <a:endParaRPr lang="en-US"/>
          </a:p>
        </p:txBody>
      </p:sp>
    </p:spTree>
    <p:extLst>
      <p:ext uri="{BB962C8B-B14F-4D97-AF65-F5344CB8AC3E}">
        <p14:creationId xmlns:p14="http://schemas.microsoft.com/office/powerpoint/2010/main" val="404428669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03597EA-8190-9BD3-1712-8D69C2D588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F0E4596-6FEE-C781-FF86-ED394E98E53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AFE0631-8DD1-8457-0764-E85C1F2DA7C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76E711-0D29-49A5-9CED-93AB08EA2C6C}" type="datetimeFigureOut">
              <a:rPr lang="en-US" smtClean="0"/>
              <a:t>1/28/2024</a:t>
            </a:fld>
            <a:endParaRPr lang="en-US"/>
          </a:p>
        </p:txBody>
      </p:sp>
      <p:sp>
        <p:nvSpPr>
          <p:cNvPr id="5" name="Footer Placeholder 4">
            <a:extLst>
              <a:ext uri="{FF2B5EF4-FFF2-40B4-BE49-F238E27FC236}">
                <a16:creationId xmlns:a16="http://schemas.microsoft.com/office/drawing/2014/main" id="{8DC574E4-2B78-217C-C6F8-38D6BEBC408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FC19EDBA-13E0-6F83-52B7-9B09FDE5FE4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F41E7D-2B68-446F-A126-E9AC63EB703A}" type="slidenum">
              <a:rPr lang="en-US" smtClean="0"/>
              <a:t>‹#›</a:t>
            </a:fld>
            <a:endParaRPr lang="en-US"/>
          </a:p>
        </p:txBody>
      </p:sp>
    </p:spTree>
    <p:extLst>
      <p:ext uri="{BB962C8B-B14F-4D97-AF65-F5344CB8AC3E}">
        <p14:creationId xmlns:p14="http://schemas.microsoft.com/office/powerpoint/2010/main" val="306450733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43E242-3DBB-C524-0D85-7485658AEC22}"/>
              </a:ext>
            </a:extLst>
          </p:cNvPr>
          <p:cNvSpPr>
            <a:spLocks noGrp="1"/>
          </p:cNvSpPr>
          <p:nvPr>
            <p:ph type="ctrTitle"/>
          </p:nvPr>
        </p:nvSpPr>
        <p:spPr/>
        <p:txBody>
          <a:bodyPr/>
          <a:lstStyle/>
          <a:p>
            <a:r>
              <a:rPr lang="en-US" dirty="0"/>
              <a:t>Statistics</a:t>
            </a:r>
          </a:p>
        </p:txBody>
      </p:sp>
    </p:spTree>
    <p:extLst>
      <p:ext uri="{BB962C8B-B14F-4D97-AF65-F5344CB8AC3E}">
        <p14:creationId xmlns:p14="http://schemas.microsoft.com/office/powerpoint/2010/main" val="41615598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665DBBEF-238B-476B-96AB-8AAC3224EC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B3D301-2AA8-8A0B-B951-086DF46995BA}"/>
              </a:ext>
            </a:extLst>
          </p:cNvPr>
          <p:cNvSpPr>
            <a:spLocks noGrp="1"/>
          </p:cNvSpPr>
          <p:nvPr>
            <p:ph type="title"/>
          </p:nvPr>
        </p:nvSpPr>
        <p:spPr>
          <a:xfrm>
            <a:off x="638882" y="639193"/>
            <a:ext cx="3571810" cy="3573516"/>
          </a:xfrm>
        </p:spPr>
        <p:txBody>
          <a:bodyPr vert="horz" lIns="91440" tIns="45720" rIns="91440" bIns="45720" rtlCol="0" anchor="b">
            <a:normAutofit/>
          </a:bodyPr>
          <a:lstStyle/>
          <a:p>
            <a:r>
              <a:rPr lang="en-US" sz="4600" kern="1200">
                <a:solidFill>
                  <a:schemeClr val="tx1"/>
                </a:solidFill>
                <a:latin typeface="+mj-lt"/>
                <a:ea typeface="+mj-ea"/>
                <a:cs typeface="+mj-cs"/>
              </a:rPr>
              <a:t>% of the coasts that are clean over 70% of the time </a:t>
            </a:r>
          </a:p>
        </p:txBody>
      </p:sp>
      <p:sp>
        <p:nvSpPr>
          <p:cNvPr id="12"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4409267"/>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DB11858F-17F2-686A-7B47-6D3CB718632A}"/>
              </a:ext>
            </a:extLst>
          </p:cNvPr>
          <p:cNvPicPr>
            <a:picLocks noChangeAspect="1"/>
          </p:cNvPicPr>
          <p:nvPr/>
        </p:nvPicPr>
        <p:blipFill>
          <a:blip r:embed="rId2"/>
          <a:stretch>
            <a:fillRect/>
          </a:stretch>
        </p:blipFill>
        <p:spPr>
          <a:xfrm>
            <a:off x="4654296" y="1395191"/>
            <a:ext cx="7214616" cy="4040185"/>
          </a:xfrm>
          <a:prstGeom prst="rect">
            <a:avLst/>
          </a:prstGeom>
        </p:spPr>
      </p:pic>
    </p:spTree>
    <p:extLst>
      <p:ext uri="{BB962C8B-B14F-4D97-AF65-F5344CB8AC3E}">
        <p14:creationId xmlns:p14="http://schemas.microsoft.com/office/powerpoint/2010/main" val="13536662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E91DC736-0EF8-4F87-9146-EBF1D2EE4D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A close-up of a network&#10;&#10;Description automatically generated">
            <a:extLst>
              <a:ext uri="{FF2B5EF4-FFF2-40B4-BE49-F238E27FC236}">
                <a16:creationId xmlns:a16="http://schemas.microsoft.com/office/drawing/2014/main" id="{6D5A5C85-3928-86BA-A30A-36F85908F746}"/>
              </a:ext>
            </a:extLst>
          </p:cNvPr>
          <p:cNvPicPr>
            <a:picLocks noChangeAspect="1"/>
          </p:cNvPicPr>
          <p:nvPr/>
        </p:nvPicPr>
        <p:blipFill rotWithShape="1">
          <a:blip r:embed="rId2"/>
          <a:srcRect t="1108" r="-1" b="-1"/>
          <a:stretch/>
        </p:blipFill>
        <p:spPr>
          <a:xfrm>
            <a:off x="6073243" y="0"/>
            <a:ext cx="6118757" cy="6858000"/>
          </a:xfrm>
          <a:prstGeom prst="rect">
            <a:avLst/>
          </a:prstGeom>
        </p:spPr>
      </p:pic>
      <p:sp>
        <p:nvSpPr>
          <p:cNvPr id="10" name="Rectangle 9">
            <a:extLst>
              <a:ext uri="{FF2B5EF4-FFF2-40B4-BE49-F238E27FC236}">
                <a16:creationId xmlns:a16="http://schemas.microsoft.com/office/drawing/2014/main" id="{097CD68E-23E3-4007-8847-CD0944C4F7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756601" cy="6858000"/>
          </a:xfrm>
          <a:prstGeom prst="rect">
            <a:avLst/>
          </a:prstGeom>
          <a:gradFill>
            <a:gsLst>
              <a:gs pos="58000">
                <a:schemeClr val="bg1"/>
              </a:gs>
              <a:gs pos="35000">
                <a:schemeClr val="bg1">
                  <a:alpha val="79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6143E242-3DBB-C524-0D85-7485658AEC22}"/>
              </a:ext>
            </a:extLst>
          </p:cNvPr>
          <p:cNvSpPr>
            <a:spLocks noGrp="1"/>
          </p:cNvSpPr>
          <p:nvPr>
            <p:ph type="ctrTitle"/>
          </p:nvPr>
        </p:nvSpPr>
        <p:spPr>
          <a:xfrm>
            <a:off x="477981" y="1122363"/>
            <a:ext cx="4023360" cy="3204134"/>
          </a:xfrm>
        </p:spPr>
        <p:txBody>
          <a:bodyPr anchor="b">
            <a:normAutofit/>
          </a:bodyPr>
          <a:lstStyle/>
          <a:p>
            <a:pPr algn="l"/>
            <a:r>
              <a:rPr lang="en-US" sz="2600" dirty="0"/>
              <a:t>Models Summary</a:t>
            </a:r>
            <a:br>
              <a:rPr lang="en-US" sz="2600" dirty="0"/>
            </a:br>
            <a:br>
              <a:rPr lang="en-US" sz="2600" dirty="0"/>
            </a:br>
            <a:r>
              <a:rPr lang="en-US" sz="2600" dirty="0"/>
              <a:t>All model's data were taken from years 2016 and onwards. Additionally, Eilat coasts have been excluded from the dataset.</a:t>
            </a:r>
          </a:p>
        </p:txBody>
      </p:sp>
      <p:sp>
        <p:nvSpPr>
          <p:cNvPr id="12" name="Rectangle 11">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4" name="Rectangle 13">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000715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FFD48BC7-DC40-47DE-87EE-9F4B6ECB9A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9" name="Freeform: Shape 8">
            <a:extLst>
              <a:ext uri="{FF2B5EF4-FFF2-40B4-BE49-F238E27FC236}">
                <a16:creationId xmlns:a16="http://schemas.microsoft.com/office/drawing/2014/main" id="{E502BBC7-2C76-46F3-BC24-5985BC13DB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C7F28D52-2A5F-4D23-81AE-7CB8B591C7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E9EFCDC9-9D16-4F5F-655D-4701F5418698}"/>
              </a:ext>
            </a:extLst>
          </p:cNvPr>
          <p:cNvSpPr>
            <a:spLocks noGrp="1"/>
          </p:cNvSpPr>
          <p:nvPr>
            <p:ph type="title"/>
          </p:nvPr>
        </p:nvSpPr>
        <p:spPr>
          <a:xfrm>
            <a:off x="1524003" y="1999615"/>
            <a:ext cx="9144000" cy="2764028"/>
          </a:xfrm>
        </p:spPr>
        <p:txBody>
          <a:bodyPr vert="horz" lIns="91440" tIns="45720" rIns="91440" bIns="45720" rtlCol="0" anchor="ctr">
            <a:normAutofit/>
          </a:bodyPr>
          <a:lstStyle/>
          <a:p>
            <a:pPr algn="ctr"/>
            <a:r>
              <a:rPr lang="en-US" sz="6000" kern="1200" dirty="0">
                <a:solidFill>
                  <a:schemeClr val="tx1"/>
                </a:solidFill>
                <a:latin typeface="+mj-lt"/>
                <a:ea typeface="+mj-ea"/>
                <a:cs typeface="+mj-cs"/>
              </a:rPr>
              <a:t>Linear Regression</a:t>
            </a:r>
          </a:p>
        </p:txBody>
      </p:sp>
      <p:sp>
        <p:nvSpPr>
          <p:cNvPr id="13" name="Rectangle 12">
            <a:extLst>
              <a:ext uri="{FF2B5EF4-FFF2-40B4-BE49-F238E27FC236}">
                <a16:creationId xmlns:a16="http://schemas.microsoft.com/office/drawing/2014/main" id="{3629484E-3792-4B3D-89AD-7C8A1ED0E0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1417785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43E242-3DBB-C524-0D85-7485658AEC22}"/>
              </a:ext>
            </a:extLst>
          </p:cNvPr>
          <p:cNvSpPr>
            <a:spLocks noGrp="1"/>
          </p:cNvSpPr>
          <p:nvPr>
            <p:ph type="ctrTitle"/>
          </p:nvPr>
        </p:nvSpPr>
        <p:spPr/>
        <p:txBody>
          <a:bodyPr/>
          <a:lstStyle/>
          <a:p>
            <a:r>
              <a:rPr lang="en-US" dirty="0"/>
              <a:t>MLR – summer model</a:t>
            </a:r>
          </a:p>
        </p:txBody>
      </p:sp>
    </p:spTree>
    <p:extLst>
      <p:ext uri="{BB962C8B-B14F-4D97-AF65-F5344CB8AC3E}">
        <p14:creationId xmlns:p14="http://schemas.microsoft.com/office/powerpoint/2010/main" val="19680290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311D395-FA6C-11E3-EDF7-C55A253A74C9}"/>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a:solidFill>
                  <a:schemeClr val="tx1"/>
                </a:solidFill>
                <a:latin typeface="+mj-lt"/>
                <a:ea typeface="+mj-ea"/>
                <a:cs typeface="+mj-cs"/>
              </a:rPr>
              <a:t>MLR (with feature selection)</a:t>
            </a:r>
          </a:p>
        </p:txBody>
      </p:sp>
      <p:sp>
        <p:nvSpPr>
          <p:cNvPr id="6" name="Content Placeholder 5">
            <a:extLst>
              <a:ext uri="{FF2B5EF4-FFF2-40B4-BE49-F238E27FC236}">
                <a16:creationId xmlns:a16="http://schemas.microsoft.com/office/drawing/2014/main" id="{0267A53A-262A-7C59-61F2-3A0E58636A5B}"/>
              </a:ext>
            </a:extLst>
          </p:cNvPr>
          <p:cNvSpPr>
            <a:spLocks noGrp="1"/>
          </p:cNvSpPr>
          <p:nvPr>
            <p:ph idx="1"/>
          </p:nvPr>
        </p:nvSpPr>
        <p:spPr>
          <a:xfrm>
            <a:off x="638881" y="1809541"/>
            <a:ext cx="10909643" cy="687406"/>
          </a:xfrm>
        </p:spPr>
        <p:txBody>
          <a:bodyPr vert="horz" lIns="91440" tIns="45720" rIns="91440" bIns="45720" rtlCol="0" anchor="ctr">
            <a:normAutofit/>
          </a:bodyPr>
          <a:lstStyle/>
          <a:p>
            <a:pPr marL="0" indent="0" algn="ctr">
              <a:buNone/>
            </a:pPr>
            <a:r>
              <a:rPr lang="en-US" sz="2200" kern="1200">
                <a:solidFill>
                  <a:schemeClr val="tx1"/>
                </a:solidFill>
                <a:latin typeface="+mn-lt"/>
                <a:ea typeface="+mn-ea"/>
                <a:cs typeface="+mn-cs"/>
              </a:rPr>
              <a:t>Chose a random K (=9) as different K values didn’t make such a difference in the results.</a:t>
            </a:r>
          </a:p>
        </p:txBody>
      </p:sp>
      <p:sp>
        <p:nvSpPr>
          <p:cNvPr id="16"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onnsiteX0" fmla="*/ 0 w 4572000"/>
              <a:gd name="connsiteY0" fmla="*/ 0 h 18288"/>
              <a:gd name="connsiteX1" fmla="*/ 515983 w 4572000"/>
              <a:gd name="connsiteY1" fmla="*/ 0 h 18288"/>
              <a:gd name="connsiteX2" fmla="*/ 1031966 w 4572000"/>
              <a:gd name="connsiteY2" fmla="*/ 0 h 18288"/>
              <a:gd name="connsiteX3" fmla="*/ 1639389 w 4572000"/>
              <a:gd name="connsiteY3" fmla="*/ 0 h 18288"/>
              <a:gd name="connsiteX4" fmla="*/ 2383971 w 4572000"/>
              <a:gd name="connsiteY4" fmla="*/ 0 h 18288"/>
              <a:gd name="connsiteX5" fmla="*/ 2945674 w 4572000"/>
              <a:gd name="connsiteY5" fmla="*/ 0 h 18288"/>
              <a:gd name="connsiteX6" fmla="*/ 3507377 w 4572000"/>
              <a:gd name="connsiteY6" fmla="*/ 0 h 18288"/>
              <a:gd name="connsiteX7" fmla="*/ 4572000 w 4572000"/>
              <a:gd name="connsiteY7" fmla="*/ 0 h 18288"/>
              <a:gd name="connsiteX8" fmla="*/ 4572000 w 4572000"/>
              <a:gd name="connsiteY8" fmla="*/ 18288 h 18288"/>
              <a:gd name="connsiteX9" fmla="*/ 3873137 w 4572000"/>
              <a:gd name="connsiteY9" fmla="*/ 18288 h 18288"/>
              <a:gd name="connsiteX10" fmla="*/ 3311434 w 4572000"/>
              <a:gd name="connsiteY10" fmla="*/ 18288 h 18288"/>
              <a:gd name="connsiteX11" fmla="*/ 2749731 w 4572000"/>
              <a:gd name="connsiteY11" fmla="*/ 18288 h 18288"/>
              <a:gd name="connsiteX12" fmla="*/ 2050869 w 4572000"/>
              <a:gd name="connsiteY12" fmla="*/ 18288 h 18288"/>
              <a:gd name="connsiteX13" fmla="*/ 1306286 w 4572000"/>
              <a:gd name="connsiteY13" fmla="*/ 18288 h 18288"/>
              <a:gd name="connsiteX14" fmla="*/ 790303 w 4572000"/>
              <a:gd name="connsiteY14" fmla="*/ 18288 h 18288"/>
              <a:gd name="connsiteX15" fmla="*/ 0 w 4572000"/>
              <a:gd name="connsiteY15" fmla="*/ 18288 h 18288"/>
              <a:gd name="connsiteX16" fmla="*/ 0 w 457200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Table 3">
            <a:extLst>
              <a:ext uri="{FF2B5EF4-FFF2-40B4-BE49-F238E27FC236}">
                <a16:creationId xmlns:a16="http://schemas.microsoft.com/office/drawing/2014/main" id="{9B0A006C-D5E4-8C8F-8A7B-716EE0796BEA}"/>
              </a:ext>
            </a:extLst>
          </p:cNvPr>
          <p:cNvGraphicFramePr>
            <a:graphicFrameLocks noGrp="1"/>
          </p:cNvGraphicFramePr>
          <p:nvPr>
            <p:extLst>
              <p:ext uri="{D42A27DB-BD31-4B8C-83A1-F6EECF244321}">
                <p14:modId xmlns:p14="http://schemas.microsoft.com/office/powerpoint/2010/main" val="1349042795"/>
              </p:ext>
            </p:extLst>
          </p:nvPr>
        </p:nvGraphicFramePr>
        <p:xfrm>
          <a:off x="806032" y="2633472"/>
          <a:ext cx="10576889" cy="3586355"/>
        </p:xfrm>
        <a:graphic>
          <a:graphicData uri="http://schemas.openxmlformats.org/drawingml/2006/table">
            <a:tbl>
              <a:tblPr firstRow="1" bandRow="1">
                <a:noFill/>
                <a:tableStyleId>{5C22544A-7EE6-4342-B048-85BDC9FD1C3A}</a:tableStyleId>
              </a:tblPr>
              <a:tblGrid>
                <a:gridCol w="1380863">
                  <a:extLst>
                    <a:ext uri="{9D8B030D-6E8A-4147-A177-3AD203B41FA5}">
                      <a16:colId xmlns:a16="http://schemas.microsoft.com/office/drawing/2014/main" val="3374051117"/>
                    </a:ext>
                  </a:extLst>
                </a:gridCol>
                <a:gridCol w="4598013">
                  <a:extLst>
                    <a:ext uri="{9D8B030D-6E8A-4147-A177-3AD203B41FA5}">
                      <a16:colId xmlns:a16="http://schemas.microsoft.com/office/drawing/2014/main" val="1171289285"/>
                    </a:ext>
                  </a:extLst>
                </a:gridCol>
                <a:gridCol w="4598013">
                  <a:extLst>
                    <a:ext uri="{9D8B030D-6E8A-4147-A177-3AD203B41FA5}">
                      <a16:colId xmlns:a16="http://schemas.microsoft.com/office/drawing/2014/main" val="3178643292"/>
                    </a:ext>
                  </a:extLst>
                </a:gridCol>
              </a:tblGrid>
              <a:tr h="995777">
                <a:tc>
                  <a:txBody>
                    <a:bodyPr/>
                    <a:lstStyle/>
                    <a:p>
                      <a:endParaRPr lang="en-US" sz="4100" b="0" cap="none" spc="0">
                        <a:solidFill>
                          <a:schemeClr val="tx1"/>
                        </a:solidFill>
                      </a:endParaRPr>
                    </a:p>
                  </a:txBody>
                  <a:tcPr marL="0" marR="233385" marT="46677" marB="233385" anchor="b">
                    <a:lnL w="12700" cmpd="sng">
                      <a:noFill/>
                    </a:lnL>
                    <a:lnR w="12700" cmpd="sng">
                      <a:noFill/>
                    </a:lnR>
                    <a:lnT w="9525" cap="flat" cmpd="sng" algn="ctr">
                      <a:noFill/>
                      <a:prstDash val="solid"/>
                    </a:lnT>
                    <a:lnB w="38100" cmpd="sng">
                      <a:noFill/>
                    </a:lnB>
                    <a:noFill/>
                  </a:tcPr>
                </a:tc>
                <a:tc>
                  <a:txBody>
                    <a:bodyPr/>
                    <a:lstStyle/>
                    <a:p>
                      <a:r>
                        <a:rPr lang="en-US" sz="4100" b="0" cap="none" spc="0" dirty="0">
                          <a:solidFill>
                            <a:schemeClr val="tx1"/>
                          </a:solidFill>
                        </a:rPr>
                        <a:t>Train</a:t>
                      </a:r>
                    </a:p>
                  </a:txBody>
                  <a:tcPr marL="0" marR="233385" marT="46677" marB="233385" anchor="b">
                    <a:lnL w="12700" cmpd="sng">
                      <a:noFill/>
                    </a:lnL>
                    <a:lnR w="12700" cmpd="sng">
                      <a:noFill/>
                    </a:lnR>
                    <a:lnT w="9525" cap="flat" cmpd="sng" algn="ctr">
                      <a:noFill/>
                      <a:prstDash val="solid"/>
                    </a:lnT>
                    <a:lnB w="38100" cmpd="sng">
                      <a:noFill/>
                    </a:lnB>
                    <a:noFill/>
                  </a:tcPr>
                </a:tc>
                <a:tc>
                  <a:txBody>
                    <a:bodyPr/>
                    <a:lstStyle/>
                    <a:p>
                      <a:r>
                        <a:rPr lang="en-US" sz="4100" b="0" cap="none" spc="0">
                          <a:solidFill>
                            <a:schemeClr val="tx1"/>
                          </a:solidFill>
                        </a:rPr>
                        <a:t>Test</a:t>
                      </a:r>
                    </a:p>
                  </a:txBody>
                  <a:tcPr marL="0" marR="233385" marT="46677" marB="233385" anchor="b">
                    <a:lnL w="12700" cmpd="sng">
                      <a:noFill/>
                    </a:lnL>
                    <a:lnR w="12700" cmpd="sng">
                      <a:noFill/>
                    </a:lnR>
                    <a:lnT w="9525" cap="flat" cmpd="sng" algn="ctr">
                      <a:noFill/>
                      <a:prstDash val="solid"/>
                    </a:lnT>
                    <a:lnB w="38100" cmpd="sng">
                      <a:noFill/>
                    </a:lnB>
                    <a:noFill/>
                  </a:tcPr>
                </a:tc>
                <a:extLst>
                  <a:ext uri="{0D108BD9-81ED-4DB2-BD59-A6C34878D82A}">
                    <a16:rowId xmlns:a16="http://schemas.microsoft.com/office/drawing/2014/main" val="1035545069"/>
                  </a:ext>
                </a:extLst>
              </a:tr>
              <a:tr h="863526">
                <a:tc>
                  <a:txBody>
                    <a:bodyPr/>
                    <a:lstStyle/>
                    <a:p>
                      <a:r>
                        <a:rPr lang="en-US" sz="3100" cap="none" spc="0" dirty="0" err="1">
                          <a:solidFill>
                            <a:schemeClr val="tx1"/>
                          </a:solidFill>
                        </a:rPr>
                        <a:t>rmse</a:t>
                      </a:r>
                      <a:endParaRPr lang="en-US" sz="3100" cap="none" spc="0" dirty="0">
                        <a:solidFill>
                          <a:schemeClr val="tx1"/>
                        </a:solidFill>
                      </a:endParaRPr>
                    </a:p>
                  </a:txBody>
                  <a:tcPr marL="0" marR="233385" marT="70016" marB="233385">
                    <a:lnL w="12700" cmpd="sng">
                      <a:noFill/>
                      <a:prstDash val="solid"/>
                    </a:lnL>
                    <a:lnR w="12700" cmpd="sng">
                      <a:noFill/>
                      <a:prstDash val="solid"/>
                    </a:lnR>
                    <a:lnT w="38100" cmpd="sng">
                      <a:noFill/>
                    </a:lnT>
                    <a:lnB w="9525" cap="flat" cmpd="sng" algn="ctr">
                      <a:solidFill>
                        <a:schemeClr val="tx1"/>
                      </a:solidFill>
                      <a:prstDash val="solid"/>
                    </a:lnB>
                    <a:noFill/>
                  </a:tcPr>
                </a:tc>
                <a:tc>
                  <a:txBody>
                    <a:bodyPr/>
                    <a:lstStyle/>
                    <a:p>
                      <a:pPr rtl="0"/>
                      <a:r>
                        <a:rPr lang="en-US" sz="1800" b="0" i="0" kern="1200" dirty="0">
                          <a:solidFill>
                            <a:schemeClr val="dk1"/>
                          </a:solidFill>
                          <a:effectLst/>
                          <a:latin typeface="+mn-lt"/>
                          <a:ea typeface="+mn-ea"/>
                          <a:cs typeface="+mn-cs"/>
                        </a:rPr>
                        <a:t>3.893</a:t>
                      </a:r>
                      <a:endParaRPr lang="en-US" sz="3200" cap="none" spc="0" dirty="0">
                        <a:solidFill>
                          <a:schemeClr val="tx1"/>
                        </a:solidFill>
                      </a:endParaRPr>
                    </a:p>
                  </a:txBody>
                  <a:tcPr marL="0" marR="233385" marT="70016" marB="233385">
                    <a:lnL w="12700" cmpd="sng">
                      <a:noFill/>
                      <a:prstDash val="solid"/>
                    </a:lnL>
                    <a:lnR w="12700" cmpd="sng">
                      <a:noFill/>
                      <a:prstDash val="solid"/>
                    </a:lnR>
                    <a:lnT w="38100" cmpd="sng">
                      <a:noFill/>
                    </a:lnT>
                    <a:lnB w="9525" cap="flat" cmpd="sng" algn="ctr">
                      <a:solidFill>
                        <a:schemeClr val="tx1"/>
                      </a:solidFill>
                      <a:prstDash val="solid"/>
                    </a:lnB>
                    <a:noFill/>
                  </a:tcPr>
                </a:tc>
                <a:tc>
                  <a:txBody>
                    <a:bodyPr/>
                    <a:lstStyle/>
                    <a:p>
                      <a:r>
                        <a:rPr lang="en-US" sz="1800" b="0" i="0" kern="1200" dirty="0">
                          <a:solidFill>
                            <a:schemeClr val="dk1"/>
                          </a:solidFill>
                          <a:effectLst/>
                          <a:latin typeface="+mn-lt"/>
                          <a:ea typeface="+mn-ea"/>
                          <a:cs typeface="+mn-cs"/>
                        </a:rPr>
                        <a:t>3.869</a:t>
                      </a:r>
                      <a:endParaRPr lang="en-US" sz="3200" cap="none" spc="0" dirty="0">
                        <a:solidFill>
                          <a:schemeClr val="tx1"/>
                        </a:solidFill>
                      </a:endParaRPr>
                    </a:p>
                  </a:txBody>
                  <a:tcPr marL="0" marR="233385" marT="70016" marB="233385">
                    <a:lnL w="12700" cmpd="sng">
                      <a:noFill/>
                      <a:prstDash val="solid"/>
                    </a:lnL>
                    <a:lnR w="12700" cmpd="sng">
                      <a:noFill/>
                      <a:prstDash val="solid"/>
                    </a:lnR>
                    <a:lnT w="38100" cmpd="sng">
                      <a:noFill/>
                    </a:lnT>
                    <a:lnB w="9525" cap="flat" cmpd="sng" algn="ctr">
                      <a:solidFill>
                        <a:schemeClr val="tx1"/>
                      </a:solidFill>
                      <a:prstDash val="solid"/>
                    </a:lnB>
                    <a:noFill/>
                  </a:tcPr>
                </a:tc>
                <a:extLst>
                  <a:ext uri="{0D108BD9-81ED-4DB2-BD59-A6C34878D82A}">
                    <a16:rowId xmlns:a16="http://schemas.microsoft.com/office/drawing/2014/main" val="220561925"/>
                  </a:ext>
                </a:extLst>
              </a:tr>
              <a:tr h="863526">
                <a:tc>
                  <a:txBody>
                    <a:bodyPr/>
                    <a:lstStyle/>
                    <a:p>
                      <a:r>
                        <a:rPr lang="en-US" sz="3100" cap="none" spc="0">
                          <a:solidFill>
                            <a:schemeClr val="tx1"/>
                          </a:solidFill>
                        </a:rPr>
                        <a:t>std</a:t>
                      </a:r>
                    </a:p>
                  </a:txBody>
                  <a:tcPr marL="0" marR="233385" marT="70016" marB="233385">
                    <a:lnL w="12700" cmpd="sng">
                      <a:noFill/>
                      <a:prstDash val="solid"/>
                    </a:lnL>
                    <a:lnR w="12700" cmpd="sng">
                      <a:noFill/>
                      <a:prstDash val="solid"/>
                    </a:lnR>
                    <a:lnT w="9525" cap="flat" cmpd="sng" algn="ctr">
                      <a:solidFill>
                        <a:schemeClr val="tx1"/>
                      </a:solidFill>
                      <a:prstDash val="solid"/>
                    </a:lnT>
                    <a:lnB w="12700" cmpd="sng">
                      <a:noFill/>
                      <a:prstDash val="solid"/>
                    </a:lnB>
                    <a:solidFill>
                      <a:schemeClr val="bg1">
                        <a:lumMod val="95000"/>
                      </a:schemeClr>
                    </a:solidFill>
                  </a:tcPr>
                </a:tc>
                <a:tc>
                  <a:txBody>
                    <a:bodyPr/>
                    <a:lstStyle/>
                    <a:p>
                      <a:pPr rtl="0"/>
                      <a:r>
                        <a:rPr lang="en-US" sz="1800" b="0" i="0" kern="1200" dirty="0">
                          <a:solidFill>
                            <a:schemeClr val="dk1"/>
                          </a:solidFill>
                          <a:effectLst/>
                          <a:latin typeface="+mn-lt"/>
                          <a:ea typeface="+mn-ea"/>
                          <a:cs typeface="+mn-cs"/>
                        </a:rPr>
                        <a:t>4.101</a:t>
                      </a:r>
                      <a:endParaRPr lang="en-US" sz="3200" cap="none" spc="0" dirty="0">
                        <a:solidFill>
                          <a:schemeClr val="tx1"/>
                        </a:solidFill>
                      </a:endParaRPr>
                    </a:p>
                  </a:txBody>
                  <a:tcPr marL="0" marR="233385" marT="70016" marB="233385">
                    <a:lnL w="12700" cmpd="sng">
                      <a:noFill/>
                      <a:prstDash val="solid"/>
                    </a:lnL>
                    <a:lnR w="12700" cmpd="sng">
                      <a:noFill/>
                      <a:prstDash val="solid"/>
                    </a:lnR>
                    <a:lnT w="9525" cap="flat" cmpd="sng" algn="ctr">
                      <a:solidFill>
                        <a:schemeClr val="tx1"/>
                      </a:solidFill>
                      <a:prstDash val="solid"/>
                    </a:lnT>
                    <a:lnB w="12700" cmpd="sng">
                      <a:noFill/>
                      <a:prstDash val="solid"/>
                    </a:lnB>
                    <a:solidFill>
                      <a:schemeClr val="bg1">
                        <a:lumMod val="95000"/>
                      </a:schemeClr>
                    </a:solidFill>
                  </a:tcPr>
                </a:tc>
                <a:tc>
                  <a:txBody>
                    <a:bodyPr/>
                    <a:lstStyle/>
                    <a:p>
                      <a:r>
                        <a:rPr lang="en-US" sz="1800" b="0" i="0" kern="1200" dirty="0">
                          <a:solidFill>
                            <a:schemeClr val="dk1"/>
                          </a:solidFill>
                          <a:effectLst/>
                          <a:latin typeface="+mn-lt"/>
                          <a:ea typeface="+mn-ea"/>
                          <a:cs typeface="+mn-cs"/>
                        </a:rPr>
                        <a:t>4.072</a:t>
                      </a:r>
                      <a:endParaRPr lang="en-US" sz="3200" cap="none" spc="0" dirty="0">
                        <a:solidFill>
                          <a:schemeClr val="tx1"/>
                        </a:solidFill>
                      </a:endParaRPr>
                    </a:p>
                  </a:txBody>
                  <a:tcPr marL="0" marR="233385" marT="70016" marB="233385">
                    <a:lnL w="12700" cmpd="sng">
                      <a:noFill/>
                      <a:prstDash val="solid"/>
                    </a:lnL>
                    <a:lnR w="12700" cmpd="sng">
                      <a:noFill/>
                      <a:prstDash val="solid"/>
                    </a:lnR>
                    <a:lnT w="9525" cap="flat" cmpd="sng" algn="ctr">
                      <a:solidFill>
                        <a:schemeClr val="tx1"/>
                      </a:solidFill>
                      <a:prstDash val="solid"/>
                    </a:lnT>
                    <a:lnB w="12700" cmpd="sng">
                      <a:noFill/>
                      <a:prstDash val="solid"/>
                    </a:lnB>
                    <a:solidFill>
                      <a:schemeClr val="bg1">
                        <a:lumMod val="95000"/>
                      </a:schemeClr>
                    </a:solidFill>
                  </a:tcPr>
                </a:tc>
                <a:extLst>
                  <a:ext uri="{0D108BD9-81ED-4DB2-BD59-A6C34878D82A}">
                    <a16:rowId xmlns:a16="http://schemas.microsoft.com/office/drawing/2014/main" val="3068550116"/>
                  </a:ext>
                </a:extLst>
              </a:tr>
              <a:tr h="863526">
                <a:tc>
                  <a:txBody>
                    <a:bodyPr/>
                    <a:lstStyle/>
                    <a:p>
                      <a:r>
                        <a:rPr lang="en-US" sz="3100" cap="none" spc="0">
                          <a:solidFill>
                            <a:schemeClr val="tx1"/>
                          </a:solidFill>
                        </a:rPr>
                        <a:t>r2</a:t>
                      </a:r>
                    </a:p>
                  </a:txBody>
                  <a:tcPr marL="0" marR="233385" marT="70016" marB="233385">
                    <a:lnL w="12700" cmpd="sng">
                      <a:noFill/>
                      <a:prstDash val="solid"/>
                    </a:lnL>
                    <a:lnR w="12700" cmpd="sng">
                      <a:noFill/>
                      <a:prstDash val="solid"/>
                    </a:lnR>
                    <a:lnT w="12700" cmpd="sng">
                      <a:noFill/>
                      <a:prstDash val="solid"/>
                    </a:lnT>
                    <a:lnB w="12700" cmpd="sng">
                      <a:noFill/>
                      <a:prstDash val="solid"/>
                    </a:lnB>
                    <a:noFill/>
                  </a:tcPr>
                </a:tc>
                <a:tc>
                  <a:txBody>
                    <a:bodyPr/>
                    <a:lstStyle/>
                    <a:p>
                      <a:r>
                        <a:rPr lang="en-US" sz="1800" b="0" i="0" kern="1200" dirty="0">
                          <a:solidFill>
                            <a:schemeClr val="dk1"/>
                          </a:solidFill>
                          <a:effectLst/>
                          <a:latin typeface="+mn-lt"/>
                          <a:ea typeface="+mn-ea"/>
                          <a:cs typeface="+mn-cs"/>
                        </a:rPr>
                        <a:t>0.098</a:t>
                      </a:r>
                      <a:endParaRPr lang="en-US" sz="3200" cap="none" spc="0" dirty="0">
                        <a:solidFill>
                          <a:schemeClr val="tx1"/>
                        </a:solidFill>
                      </a:endParaRPr>
                    </a:p>
                  </a:txBody>
                  <a:tcPr marL="0" marR="233385" marT="70016" marB="233385">
                    <a:lnL w="12700" cmpd="sng">
                      <a:noFill/>
                      <a:prstDash val="solid"/>
                    </a:lnL>
                    <a:lnR w="12700" cmpd="sng">
                      <a:noFill/>
                      <a:prstDash val="solid"/>
                    </a:lnR>
                    <a:lnT w="12700" cmpd="sng">
                      <a:noFill/>
                      <a:prstDash val="solid"/>
                    </a:lnT>
                    <a:lnB w="12700" cmpd="sng">
                      <a:noFill/>
                      <a:prstDash val="solid"/>
                    </a:lnB>
                    <a:noFill/>
                  </a:tcPr>
                </a:tc>
                <a:tc>
                  <a:txBody>
                    <a:bodyPr/>
                    <a:lstStyle/>
                    <a:p>
                      <a:r>
                        <a:rPr lang="en-US" sz="1800" b="0" i="0" kern="1200" dirty="0">
                          <a:solidFill>
                            <a:schemeClr val="dk1"/>
                          </a:solidFill>
                          <a:effectLst/>
                          <a:latin typeface="+mn-lt"/>
                          <a:ea typeface="+mn-ea"/>
                          <a:cs typeface="+mn-cs"/>
                        </a:rPr>
                        <a:t>0.097</a:t>
                      </a:r>
                      <a:endParaRPr lang="en-US" sz="3200" cap="none" spc="0" dirty="0">
                        <a:solidFill>
                          <a:schemeClr val="tx1"/>
                        </a:solidFill>
                      </a:endParaRPr>
                    </a:p>
                  </a:txBody>
                  <a:tcPr marL="0" marR="233385" marT="70016" marB="233385">
                    <a:lnL w="12700" cmpd="sng">
                      <a:noFill/>
                      <a:prstDash val="solid"/>
                    </a:lnL>
                    <a:lnR w="12700" cmpd="sng">
                      <a:noFill/>
                      <a:prstDash val="solid"/>
                    </a:lnR>
                    <a:lnT w="12700" cmpd="sng">
                      <a:noFill/>
                      <a:prstDash val="solid"/>
                    </a:lnT>
                    <a:lnB w="12700" cmpd="sng">
                      <a:noFill/>
                      <a:prstDash val="solid"/>
                    </a:lnB>
                    <a:noFill/>
                  </a:tcPr>
                </a:tc>
                <a:extLst>
                  <a:ext uri="{0D108BD9-81ED-4DB2-BD59-A6C34878D82A}">
                    <a16:rowId xmlns:a16="http://schemas.microsoft.com/office/drawing/2014/main" val="1022304556"/>
                  </a:ext>
                </a:extLst>
              </a:tr>
            </a:tbl>
          </a:graphicData>
        </a:graphic>
      </p:graphicFrame>
    </p:spTree>
    <p:extLst>
      <p:ext uri="{BB962C8B-B14F-4D97-AF65-F5344CB8AC3E}">
        <p14:creationId xmlns:p14="http://schemas.microsoft.com/office/powerpoint/2010/main" val="37754060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311D395-FA6C-11E3-EDF7-C55A253A74C9}"/>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a:solidFill>
                  <a:schemeClr val="tx1"/>
                </a:solidFill>
                <a:latin typeface="+mj-lt"/>
                <a:ea typeface="+mj-ea"/>
                <a:cs typeface="+mj-cs"/>
              </a:rPr>
              <a:t>MLR (with feature selection)</a:t>
            </a:r>
          </a:p>
        </p:txBody>
      </p:sp>
      <p:sp>
        <p:nvSpPr>
          <p:cNvPr id="16"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onnsiteX0" fmla="*/ 0 w 4572000"/>
              <a:gd name="connsiteY0" fmla="*/ 0 h 18288"/>
              <a:gd name="connsiteX1" fmla="*/ 515983 w 4572000"/>
              <a:gd name="connsiteY1" fmla="*/ 0 h 18288"/>
              <a:gd name="connsiteX2" fmla="*/ 1031966 w 4572000"/>
              <a:gd name="connsiteY2" fmla="*/ 0 h 18288"/>
              <a:gd name="connsiteX3" fmla="*/ 1639389 w 4572000"/>
              <a:gd name="connsiteY3" fmla="*/ 0 h 18288"/>
              <a:gd name="connsiteX4" fmla="*/ 2383971 w 4572000"/>
              <a:gd name="connsiteY4" fmla="*/ 0 h 18288"/>
              <a:gd name="connsiteX5" fmla="*/ 2945674 w 4572000"/>
              <a:gd name="connsiteY5" fmla="*/ 0 h 18288"/>
              <a:gd name="connsiteX6" fmla="*/ 3507377 w 4572000"/>
              <a:gd name="connsiteY6" fmla="*/ 0 h 18288"/>
              <a:gd name="connsiteX7" fmla="*/ 4572000 w 4572000"/>
              <a:gd name="connsiteY7" fmla="*/ 0 h 18288"/>
              <a:gd name="connsiteX8" fmla="*/ 4572000 w 4572000"/>
              <a:gd name="connsiteY8" fmla="*/ 18288 h 18288"/>
              <a:gd name="connsiteX9" fmla="*/ 3873137 w 4572000"/>
              <a:gd name="connsiteY9" fmla="*/ 18288 h 18288"/>
              <a:gd name="connsiteX10" fmla="*/ 3311434 w 4572000"/>
              <a:gd name="connsiteY10" fmla="*/ 18288 h 18288"/>
              <a:gd name="connsiteX11" fmla="*/ 2749731 w 4572000"/>
              <a:gd name="connsiteY11" fmla="*/ 18288 h 18288"/>
              <a:gd name="connsiteX12" fmla="*/ 2050869 w 4572000"/>
              <a:gd name="connsiteY12" fmla="*/ 18288 h 18288"/>
              <a:gd name="connsiteX13" fmla="*/ 1306286 w 4572000"/>
              <a:gd name="connsiteY13" fmla="*/ 18288 h 18288"/>
              <a:gd name="connsiteX14" fmla="*/ 790303 w 4572000"/>
              <a:gd name="connsiteY14" fmla="*/ 18288 h 18288"/>
              <a:gd name="connsiteX15" fmla="*/ 0 w 4572000"/>
              <a:gd name="connsiteY15" fmla="*/ 18288 h 18288"/>
              <a:gd name="connsiteX16" fmla="*/ 0 w 457200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green and white rectangle with black border&#10;&#10;Description automatically generated">
            <a:extLst>
              <a:ext uri="{FF2B5EF4-FFF2-40B4-BE49-F238E27FC236}">
                <a16:creationId xmlns:a16="http://schemas.microsoft.com/office/drawing/2014/main" id="{15E988D8-61B5-7E7A-AD94-22F279C31F3F}"/>
              </a:ext>
            </a:extLst>
          </p:cNvPr>
          <p:cNvPicPr>
            <a:picLocks noChangeAspect="1"/>
          </p:cNvPicPr>
          <p:nvPr/>
        </p:nvPicPr>
        <p:blipFill>
          <a:blip r:embed="rId2"/>
          <a:stretch>
            <a:fillRect/>
          </a:stretch>
        </p:blipFill>
        <p:spPr>
          <a:xfrm>
            <a:off x="1765935" y="1818226"/>
            <a:ext cx="8301990" cy="4752766"/>
          </a:xfrm>
          <a:prstGeom prst="rect">
            <a:avLst/>
          </a:prstGeom>
        </p:spPr>
      </p:pic>
    </p:spTree>
    <p:extLst>
      <p:ext uri="{BB962C8B-B14F-4D97-AF65-F5344CB8AC3E}">
        <p14:creationId xmlns:p14="http://schemas.microsoft.com/office/powerpoint/2010/main" val="35478313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311D395-FA6C-11E3-EDF7-C55A253A74C9}"/>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dirty="0">
                <a:solidFill>
                  <a:schemeClr val="tx1"/>
                </a:solidFill>
                <a:latin typeface="+mj-lt"/>
                <a:ea typeface="+mj-ea"/>
                <a:cs typeface="+mj-cs"/>
              </a:rPr>
              <a:t>MLR Coefficients</a:t>
            </a:r>
          </a:p>
        </p:txBody>
      </p:sp>
      <p:sp>
        <p:nvSpPr>
          <p:cNvPr id="16"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onnsiteX0" fmla="*/ 0 w 4572000"/>
              <a:gd name="connsiteY0" fmla="*/ 0 h 18288"/>
              <a:gd name="connsiteX1" fmla="*/ 515983 w 4572000"/>
              <a:gd name="connsiteY1" fmla="*/ 0 h 18288"/>
              <a:gd name="connsiteX2" fmla="*/ 1031966 w 4572000"/>
              <a:gd name="connsiteY2" fmla="*/ 0 h 18288"/>
              <a:gd name="connsiteX3" fmla="*/ 1639389 w 4572000"/>
              <a:gd name="connsiteY3" fmla="*/ 0 h 18288"/>
              <a:gd name="connsiteX4" fmla="*/ 2383971 w 4572000"/>
              <a:gd name="connsiteY4" fmla="*/ 0 h 18288"/>
              <a:gd name="connsiteX5" fmla="*/ 2945674 w 4572000"/>
              <a:gd name="connsiteY5" fmla="*/ 0 h 18288"/>
              <a:gd name="connsiteX6" fmla="*/ 3507377 w 4572000"/>
              <a:gd name="connsiteY6" fmla="*/ 0 h 18288"/>
              <a:gd name="connsiteX7" fmla="*/ 4572000 w 4572000"/>
              <a:gd name="connsiteY7" fmla="*/ 0 h 18288"/>
              <a:gd name="connsiteX8" fmla="*/ 4572000 w 4572000"/>
              <a:gd name="connsiteY8" fmla="*/ 18288 h 18288"/>
              <a:gd name="connsiteX9" fmla="*/ 3873137 w 4572000"/>
              <a:gd name="connsiteY9" fmla="*/ 18288 h 18288"/>
              <a:gd name="connsiteX10" fmla="*/ 3311434 w 4572000"/>
              <a:gd name="connsiteY10" fmla="*/ 18288 h 18288"/>
              <a:gd name="connsiteX11" fmla="*/ 2749731 w 4572000"/>
              <a:gd name="connsiteY11" fmla="*/ 18288 h 18288"/>
              <a:gd name="connsiteX12" fmla="*/ 2050869 w 4572000"/>
              <a:gd name="connsiteY12" fmla="*/ 18288 h 18288"/>
              <a:gd name="connsiteX13" fmla="*/ 1306286 w 4572000"/>
              <a:gd name="connsiteY13" fmla="*/ 18288 h 18288"/>
              <a:gd name="connsiteX14" fmla="*/ 790303 w 4572000"/>
              <a:gd name="connsiteY14" fmla="*/ 18288 h 18288"/>
              <a:gd name="connsiteX15" fmla="*/ 0 w 4572000"/>
              <a:gd name="connsiteY15" fmla="*/ 18288 h 18288"/>
              <a:gd name="connsiteX16" fmla="*/ 0 w 457200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E654572B-465D-BB41-2B5A-D4632DEAD0BA}"/>
              </a:ext>
            </a:extLst>
          </p:cNvPr>
          <p:cNvPicPr>
            <a:picLocks noChangeAspect="1"/>
          </p:cNvPicPr>
          <p:nvPr/>
        </p:nvPicPr>
        <p:blipFill>
          <a:blip r:embed="rId2"/>
          <a:stretch>
            <a:fillRect/>
          </a:stretch>
        </p:blipFill>
        <p:spPr>
          <a:xfrm>
            <a:off x="-341389" y="2114121"/>
            <a:ext cx="9624060" cy="4381500"/>
          </a:xfrm>
          <a:prstGeom prst="rect">
            <a:avLst/>
          </a:prstGeom>
        </p:spPr>
      </p:pic>
    </p:spTree>
    <p:extLst>
      <p:ext uri="{BB962C8B-B14F-4D97-AF65-F5344CB8AC3E}">
        <p14:creationId xmlns:p14="http://schemas.microsoft.com/office/powerpoint/2010/main" val="20127415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43E242-3DBB-C524-0D85-7485658AEC22}"/>
              </a:ext>
            </a:extLst>
          </p:cNvPr>
          <p:cNvSpPr>
            <a:spLocks noGrp="1"/>
          </p:cNvSpPr>
          <p:nvPr>
            <p:ph type="ctrTitle"/>
          </p:nvPr>
        </p:nvSpPr>
        <p:spPr/>
        <p:txBody>
          <a:bodyPr/>
          <a:lstStyle/>
          <a:p>
            <a:r>
              <a:rPr lang="en-US" dirty="0"/>
              <a:t>MLR – winter model</a:t>
            </a:r>
          </a:p>
        </p:txBody>
      </p:sp>
    </p:spTree>
    <p:extLst>
      <p:ext uri="{BB962C8B-B14F-4D97-AF65-F5344CB8AC3E}">
        <p14:creationId xmlns:p14="http://schemas.microsoft.com/office/powerpoint/2010/main" val="11844818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11D395-FA6C-11E3-EDF7-C55A253A74C9}"/>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dirty="0">
                <a:solidFill>
                  <a:schemeClr val="tx1"/>
                </a:solidFill>
                <a:latin typeface="+mj-lt"/>
                <a:ea typeface="+mj-ea"/>
                <a:cs typeface="+mj-cs"/>
              </a:rPr>
              <a:t>MLR (with feature selection)</a:t>
            </a:r>
          </a:p>
        </p:txBody>
      </p:sp>
      <p:graphicFrame>
        <p:nvGraphicFramePr>
          <p:cNvPr id="4" name="Table 3">
            <a:extLst>
              <a:ext uri="{FF2B5EF4-FFF2-40B4-BE49-F238E27FC236}">
                <a16:creationId xmlns:a16="http://schemas.microsoft.com/office/drawing/2014/main" id="{9B0A006C-D5E4-8C8F-8A7B-716EE0796BEA}"/>
              </a:ext>
            </a:extLst>
          </p:cNvPr>
          <p:cNvGraphicFramePr>
            <a:graphicFrameLocks noGrp="1"/>
          </p:cNvGraphicFramePr>
          <p:nvPr>
            <p:extLst>
              <p:ext uri="{D42A27DB-BD31-4B8C-83A1-F6EECF244321}">
                <p14:modId xmlns:p14="http://schemas.microsoft.com/office/powerpoint/2010/main" val="66733708"/>
              </p:ext>
            </p:extLst>
          </p:nvPr>
        </p:nvGraphicFramePr>
        <p:xfrm>
          <a:off x="806032" y="2633472"/>
          <a:ext cx="10576889" cy="3586355"/>
        </p:xfrm>
        <a:graphic>
          <a:graphicData uri="http://schemas.openxmlformats.org/drawingml/2006/table">
            <a:tbl>
              <a:tblPr firstRow="1" bandRow="1">
                <a:noFill/>
                <a:tableStyleId>{5C22544A-7EE6-4342-B048-85BDC9FD1C3A}</a:tableStyleId>
              </a:tblPr>
              <a:tblGrid>
                <a:gridCol w="1380863">
                  <a:extLst>
                    <a:ext uri="{9D8B030D-6E8A-4147-A177-3AD203B41FA5}">
                      <a16:colId xmlns:a16="http://schemas.microsoft.com/office/drawing/2014/main" val="3374051117"/>
                    </a:ext>
                  </a:extLst>
                </a:gridCol>
                <a:gridCol w="4598013">
                  <a:extLst>
                    <a:ext uri="{9D8B030D-6E8A-4147-A177-3AD203B41FA5}">
                      <a16:colId xmlns:a16="http://schemas.microsoft.com/office/drawing/2014/main" val="1171289285"/>
                    </a:ext>
                  </a:extLst>
                </a:gridCol>
                <a:gridCol w="4598013">
                  <a:extLst>
                    <a:ext uri="{9D8B030D-6E8A-4147-A177-3AD203B41FA5}">
                      <a16:colId xmlns:a16="http://schemas.microsoft.com/office/drawing/2014/main" val="3178643292"/>
                    </a:ext>
                  </a:extLst>
                </a:gridCol>
              </a:tblGrid>
              <a:tr h="995777">
                <a:tc>
                  <a:txBody>
                    <a:bodyPr/>
                    <a:lstStyle/>
                    <a:p>
                      <a:endParaRPr lang="en-US" sz="4100" b="0" cap="none" spc="0">
                        <a:solidFill>
                          <a:schemeClr val="tx1"/>
                        </a:solidFill>
                      </a:endParaRPr>
                    </a:p>
                  </a:txBody>
                  <a:tcPr marL="0" marR="233385" marT="46677" marB="233385" anchor="b">
                    <a:lnL w="12700" cmpd="sng">
                      <a:noFill/>
                    </a:lnL>
                    <a:lnR w="12700" cmpd="sng">
                      <a:noFill/>
                    </a:lnR>
                    <a:lnT w="9525" cap="flat" cmpd="sng" algn="ctr">
                      <a:noFill/>
                      <a:prstDash val="solid"/>
                    </a:lnT>
                    <a:lnB w="38100" cmpd="sng">
                      <a:noFill/>
                    </a:lnB>
                    <a:noFill/>
                  </a:tcPr>
                </a:tc>
                <a:tc>
                  <a:txBody>
                    <a:bodyPr/>
                    <a:lstStyle/>
                    <a:p>
                      <a:r>
                        <a:rPr lang="en-US" sz="4100" b="0" cap="none" spc="0" dirty="0">
                          <a:solidFill>
                            <a:schemeClr val="tx1"/>
                          </a:solidFill>
                        </a:rPr>
                        <a:t>Train</a:t>
                      </a:r>
                    </a:p>
                  </a:txBody>
                  <a:tcPr marL="0" marR="233385" marT="46677" marB="233385" anchor="b">
                    <a:lnL w="12700" cmpd="sng">
                      <a:noFill/>
                    </a:lnL>
                    <a:lnR w="12700" cmpd="sng">
                      <a:noFill/>
                    </a:lnR>
                    <a:lnT w="9525" cap="flat" cmpd="sng" algn="ctr">
                      <a:noFill/>
                      <a:prstDash val="solid"/>
                    </a:lnT>
                    <a:lnB w="38100" cmpd="sng">
                      <a:noFill/>
                    </a:lnB>
                    <a:noFill/>
                  </a:tcPr>
                </a:tc>
                <a:tc>
                  <a:txBody>
                    <a:bodyPr/>
                    <a:lstStyle/>
                    <a:p>
                      <a:r>
                        <a:rPr lang="en-US" sz="4100" b="0" cap="none" spc="0" dirty="0">
                          <a:solidFill>
                            <a:schemeClr val="tx1"/>
                          </a:solidFill>
                        </a:rPr>
                        <a:t>Test</a:t>
                      </a:r>
                    </a:p>
                  </a:txBody>
                  <a:tcPr marL="0" marR="233385" marT="46677" marB="233385" anchor="b">
                    <a:lnL w="12700" cmpd="sng">
                      <a:noFill/>
                    </a:lnL>
                    <a:lnR w="12700" cmpd="sng">
                      <a:noFill/>
                    </a:lnR>
                    <a:lnT w="9525" cap="flat" cmpd="sng" algn="ctr">
                      <a:noFill/>
                      <a:prstDash val="solid"/>
                    </a:lnT>
                    <a:lnB w="38100" cmpd="sng">
                      <a:noFill/>
                    </a:lnB>
                    <a:noFill/>
                  </a:tcPr>
                </a:tc>
                <a:extLst>
                  <a:ext uri="{0D108BD9-81ED-4DB2-BD59-A6C34878D82A}">
                    <a16:rowId xmlns:a16="http://schemas.microsoft.com/office/drawing/2014/main" val="1035545069"/>
                  </a:ext>
                </a:extLst>
              </a:tr>
              <a:tr h="863526">
                <a:tc>
                  <a:txBody>
                    <a:bodyPr/>
                    <a:lstStyle/>
                    <a:p>
                      <a:r>
                        <a:rPr lang="en-US" sz="3100" cap="none" spc="0" dirty="0" err="1">
                          <a:solidFill>
                            <a:schemeClr val="tx1"/>
                          </a:solidFill>
                        </a:rPr>
                        <a:t>rmse</a:t>
                      </a:r>
                      <a:endParaRPr lang="en-US" sz="3100" cap="none" spc="0" dirty="0">
                        <a:solidFill>
                          <a:schemeClr val="tx1"/>
                        </a:solidFill>
                      </a:endParaRPr>
                    </a:p>
                  </a:txBody>
                  <a:tcPr marL="0" marR="233385" marT="70016" marB="233385">
                    <a:lnL w="12700" cmpd="sng">
                      <a:noFill/>
                      <a:prstDash val="solid"/>
                    </a:lnL>
                    <a:lnR w="12700" cmpd="sng">
                      <a:noFill/>
                      <a:prstDash val="solid"/>
                    </a:lnR>
                    <a:lnT w="38100" cmpd="sng">
                      <a:noFill/>
                    </a:lnT>
                    <a:lnB w="9525" cap="flat" cmpd="sng" algn="ctr">
                      <a:solidFill>
                        <a:schemeClr val="tx1"/>
                      </a:solidFill>
                      <a:prstDash val="solid"/>
                    </a:lnB>
                    <a:noFill/>
                  </a:tcPr>
                </a:tc>
                <a:tc>
                  <a:txBody>
                    <a:bodyPr/>
                    <a:lstStyle/>
                    <a:p>
                      <a:pPr rtl="0"/>
                      <a:r>
                        <a:rPr lang="en-US" sz="1800" b="0" i="0" kern="1200" dirty="0">
                          <a:solidFill>
                            <a:schemeClr val="dk1"/>
                          </a:solidFill>
                          <a:effectLst/>
                          <a:latin typeface="+mn-lt"/>
                          <a:ea typeface="+mn-ea"/>
                          <a:cs typeface="+mn-cs"/>
                        </a:rPr>
                        <a:t>4.423</a:t>
                      </a:r>
                      <a:endParaRPr lang="en-US" sz="3200" cap="none" spc="0" dirty="0">
                        <a:solidFill>
                          <a:schemeClr val="tx1"/>
                        </a:solidFill>
                      </a:endParaRPr>
                    </a:p>
                  </a:txBody>
                  <a:tcPr marL="0" marR="233385" marT="70016" marB="233385">
                    <a:lnL w="12700" cmpd="sng">
                      <a:noFill/>
                      <a:prstDash val="solid"/>
                    </a:lnL>
                    <a:lnR w="12700" cmpd="sng">
                      <a:noFill/>
                      <a:prstDash val="solid"/>
                    </a:lnR>
                    <a:lnT w="38100" cmpd="sng">
                      <a:noFill/>
                    </a:lnT>
                    <a:lnB w="9525" cap="flat" cmpd="sng" algn="ctr">
                      <a:solidFill>
                        <a:schemeClr val="tx1"/>
                      </a:solidFill>
                      <a:prstDash val="solid"/>
                    </a:lnB>
                    <a:noFill/>
                  </a:tcPr>
                </a:tc>
                <a:tc>
                  <a:txBody>
                    <a:bodyPr/>
                    <a:lstStyle/>
                    <a:p>
                      <a:r>
                        <a:rPr lang="en-US" sz="1800" b="0" i="0" kern="1200" dirty="0">
                          <a:solidFill>
                            <a:schemeClr val="dk1"/>
                          </a:solidFill>
                          <a:effectLst/>
                          <a:latin typeface="+mn-lt"/>
                          <a:ea typeface="+mn-ea"/>
                          <a:cs typeface="+mn-cs"/>
                        </a:rPr>
                        <a:t>4.443</a:t>
                      </a:r>
                      <a:endParaRPr lang="en-US" sz="3200" cap="none" spc="0" dirty="0">
                        <a:solidFill>
                          <a:schemeClr val="tx1"/>
                        </a:solidFill>
                      </a:endParaRPr>
                    </a:p>
                  </a:txBody>
                  <a:tcPr marL="0" marR="233385" marT="70016" marB="233385">
                    <a:lnL w="12700" cmpd="sng">
                      <a:noFill/>
                      <a:prstDash val="solid"/>
                    </a:lnL>
                    <a:lnR w="12700" cmpd="sng">
                      <a:noFill/>
                      <a:prstDash val="solid"/>
                    </a:lnR>
                    <a:lnT w="38100" cmpd="sng">
                      <a:noFill/>
                    </a:lnT>
                    <a:lnB w="9525" cap="flat" cmpd="sng" algn="ctr">
                      <a:solidFill>
                        <a:schemeClr val="tx1"/>
                      </a:solidFill>
                      <a:prstDash val="solid"/>
                    </a:lnB>
                    <a:noFill/>
                  </a:tcPr>
                </a:tc>
                <a:extLst>
                  <a:ext uri="{0D108BD9-81ED-4DB2-BD59-A6C34878D82A}">
                    <a16:rowId xmlns:a16="http://schemas.microsoft.com/office/drawing/2014/main" val="220561925"/>
                  </a:ext>
                </a:extLst>
              </a:tr>
              <a:tr h="863526">
                <a:tc>
                  <a:txBody>
                    <a:bodyPr/>
                    <a:lstStyle/>
                    <a:p>
                      <a:r>
                        <a:rPr lang="en-US" sz="3100" cap="none" spc="0">
                          <a:solidFill>
                            <a:schemeClr val="tx1"/>
                          </a:solidFill>
                        </a:rPr>
                        <a:t>std</a:t>
                      </a:r>
                    </a:p>
                  </a:txBody>
                  <a:tcPr marL="0" marR="233385" marT="70016" marB="233385">
                    <a:lnL w="12700" cmpd="sng">
                      <a:noFill/>
                      <a:prstDash val="solid"/>
                    </a:lnL>
                    <a:lnR w="12700" cmpd="sng">
                      <a:noFill/>
                      <a:prstDash val="solid"/>
                    </a:lnR>
                    <a:lnT w="9525" cap="flat" cmpd="sng" algn="ctr">
                      <a:solidFill>
                        <a:schemeClr val="tx1"/>
                      </a:solidFill>
                      <a:prstDash val="solid"/>
                    </a:lnT>
                    <a:lnB w="12700" cmpd="sng">
                      <a:noFill/>
                      <a:prstDash val="solid"/>
                    </a:lnB>
                    <a:solidFill>
                      <a:schemeClr val="bg1">
                        <a:lumMod val="95000"/>
                      </a:schemeClr>
                    </a:solidFill>
                  </a:tcPr>
                </a:tc>
                <a:tc>
                  <a:txBody>
                    <a:bodyPr/>
                    <a:lstStyle/>
                    <a:p>
                      <a:pPr rtl="0"/>
                      <a:r>
                        <a:rPr lang="en-US" sz="1800" b="0" i="0" kern="1200" dirty="0">
                          <a:solidFill>
                            <a:schemeClr val="dk1"/>
                          </a:solidFill>
                          <a:effectLst/>
                          <a:latin typeface="+mn-lt"/>
                          <a:ea typeface="+mn-ea"/>
                          <a:cs typeface="+mn-cs"/>
                        </a:rPr>
                        <a:t>4.677</a:t>
                      </a:r>
                      <a:endParaRPr lang="en-US" sz="3200" cap="none" spc="0" dirty="0">
                        <a:solidFill>
                          <a:schemeClr val="tx1"/>
                        </a:solidFill>
                      </a:endParaRPr>
                    </a:p>
                  </a:txBody>
                  <a:tcPr marL="0" marR="233385" marT="70016" marB="233385">
                    <a:lnL w="12700" cmpd="sng">
                      <a:noFill/>
                      <a:prstDash val="solid"/>
                    </a:lnL>
                    <a:lnR w="12700" cmpd="sng">
                      <a:noFill/>
                      <a:prstDash val="solid"/>
                    </a:lnR>
                    <a:lnT w="9525" cap="flat" cmpd="sng" algn="ctr">
                      <a:solidFill>
                        <a:schemeClr val="tx1"/>
                      </a:solidFill>
                      <a:prstDash val="solid"/>
                    </a:lnT>
                    <a:lnB w="12700" cmpd="sng">
                      <a:noFill/>
                      <a:prstDash val="solid"/>
                    </a:lnB>
                    <a:solidFill>
                      <a:schemeClr val="bg1">
                        <a:lumMod val="95000"/>
                      </a:schemeClr>
                    </a:solidFill>
                  </a:tcPr>
                </a:tc>
                <a:tc>
                  <a:txBody>
                    <a:bodyPr/>
                    <a:lstStyle/>
                    <a:p>
                      <a:r>
                        <a:rPr lang="en-US" sz="1800" b="0" i="0" kern="1200" dirty="0">
                          <a:solidFill>
                            <a:schemeClr val="dk1"/>
                          </a:solidFill>
                          <a:effectLst/>
                          <a:latin typeface="+mn-lt"/>
                          <a:ea typeface="+mn-ea"/>
                          <a:cs typeface="+mn-cs"/>
                        </a:rPr>
                        <a:t>4.648</a:t>
                      </a:r>
                      <a:endParaRPr lang="en-US" sz="3200" cap="none" spc="0" dirty="0">
                        <a:solidFill>
                          <a:schemeClr val="tx1"/>
                        </a:solidFill>
                      </a:endParaRPr>
                    </a:p>
                  </a:txBody>
                  <a:tcPr marL="0" marR="233385" marT="70016" marB="233385">
                    <a:lnL w="12700" cmpd="sng">
                      <a:noFill/>
                      <a:prstDash val="solid"/>
                    </a:lnL>
                    <a:lnR w="12700" cmpd="sng">
                      <a:noFill/>
                      <a:prstDash val="solid"/>
                    </a:lnR>
                    <a:lnT w="9525" cap="flat" cmpd="sng" algn="ctr">
                      <a:solidFill>
                        <a:schemeClr val="tx1"/>
                      </a:solidFill>
                      <a:prstDash val="solid"/>
                    </a:lnT>
                    <a:lnB w="12700" cmpd="sng">
                      <a:noFill/>
                      <a:prstDash val="solid"/>
                    </a:lnB>
                    <a:solidFill>
                      <a:schemeClr val="bg1">
                        <a:lumMod val="95000"/>
                      </a:schemeClr>
                    </a:solidFill>
                  </a:tcPr>
                </a:tc>
                <a:extLst>
                  <a:ext uri="{0D108BD9-81ED-4DB2-BD59-A6C34878D82A}">
                    <a16:rowId xmlns:a16="http://schemas.microsoft.com/office/drawing/2014/main" val="3068550116"/>
                  </a:ext>
                </a:extLst>
              </a:tr>
              <a:tr h="863526">
                <a:tc>
                  <a:txBody>
                    <a:bodyPr/>
                    <a:lstStyle/>
                    <a:p>
                      <a:r>
                        <a:rPr lang="en-US" sz="3100" cap="none" spc="0">
                          <a:solidFill>
                            <a:schemeClr val="tx1"/>
                          </a:solidFill>
                        </a:rPr>
                        <a:t>r2</a:t>
                      </a:r>
                    </a:p>
                  </a:txBody>
                  <a:tcPr marL="0" marR="233385" marT="70016" marB="233385">
                    <a:lnL w="12700" cmpd="sng">
                      <a:noFill/>
                      <a:prstDash val="solid"/>
                    </a:lnL>
                    <a:lnR w="12700" cmpd="sng">
                      <a:noFill/>
                      <a:prstDash val="solid"/>
                    </a:lnR>
                    <a:lnT w="12700" cmpd="sng">
                      <a:noFill/>
                      <a:prstDash val="solid"/>
                    </a:lnT>
                    <a:lnB w="12700" cmpd="sng">
                      <a:noFill/>
                      <a:prstDash val="solid"/>
                    </a:lnB>
                    <a:noFill/>
                  </a:tcPr>
                </a:tc>
                <a:tc>
                  <a:txBody>
                    <a:bodyPr/>
                    <a:lstStyle/>
                    <a:p>
                      <a:r>
                        <a:rPr lang="en-US" sz="1800" b="0" i="0" kern="1200" dirty="0">
                          <a:solidFill>
                            <a:schemeClr val="dk1"/>
                          </a:solidFill>
                          <a:effectLst/>
                          <a:latin typeface="+mn-lt"/>
                          <a:ea typeface="+mn-ea"/>
                          <a:cs typeface="+mn-cs"/>
                        </a:rPr>
                        <a:t>0.105</a:t>
                      </a:r>
                      <a:endParaRPr lang="en-US" sz="3200" cap="none" spc="0" dirty="0">
                        <a:solidFill>
                          <a:schemeClr val="tx1"/>
                        </a:solidFill>
                      </a:endParaRPr>
                    </a:p>
                  </a:txBody>
                  <a:tcPr marL="0" marR="233385" marT="70016" marB="233385">
                    <a:lnL w="12700" cmpd="sng">
                      <a:noFill/>
                      <a:prstDash val="solid"/>
                    </a:lnL>
                    <a:lnR w="12700" cmpd="sng">
                      <a:noFill/>
                      <a:prstDash val="solid"/>
                    </a:lnR>
                    <a:lnT w="12700" cmpd="sng">
                      <a:noFill/>
                      <a:prstDash val="solid"/>
                    </a:lnT>
                    <a:lnB w="12700" cmpd="sng">
                      <a:noFill/>
                      <a:prstDash val="solid"/>
                    </a:lnB>
                    <a:noFill/>
                  </a:tcPr>
                </a:tc>
                <a:tc>
                  <a:txBody>
                    <a:bodyPr/>
                    <a:lstStyle/>
                    <a:p>
                      <a:r>
                        <a:rPr lang="en-US" sz="1800" b="0" i="0" kern="1200" dirty="0">
                          <a:solidFill>
                            <a:schemeClr val="dk1"/>
                          </a:solidFill>
                          <a:effectLst/>
                          <a:latin typeface="+mn-lt"/>
                          <a:ea typeface="+mn-ea"/>
                          <a:cs typeface="+mn-cs"/>
                        </a:rPr>
                        <a:t>0.085</a:t>
                      </a:r>
                      <a:endParaRPr lang="en-US" sz="3200" cap="none" spc="0" dirty="0">
                        <a:solidFill>
                          <a:schemeClr val="tx1"/>
                        </a:solidFill>
                      </a:endParaRPr>
                    </a:p>
                  </a:txBody>
                  <a:tcPr marL="0" marR="233385" marT="70016" marB="233385">
                    <a:lnL w="12700" cmpd="sng">
                      <a:noFill/>
                      <a:prstDash val="solid"/>
                    </a:lnL>
                    <a:lnR w="12700" cmpd="sng">
                      <a:noFill/>
                      <a:prstDash val="solid"/>
                    </a:lnR>
                    <a:lnT w="12700" cmpd="sng">
                      <a:noFill/>
                      <a:prstDash val="solid"/>
                    </a:lnT>
                    <a:lnB w="12700" cmpd="sng">
                      <a:noFill/>
                      <a:prstDash val="solid"/>
                    </a:lnB>
                    <a:noFill/>
                  </a:tcPr>
                </a:tc>
                <a:extLst>
                  <a:ext uri="{0D108BD9-81ED-4DB2-BD59-A6C34878D82A}">
                    <a16:rowId xmlns:a16="http://schemas.microsoft.com/office/drawing/2014/main" val="1022304556"/>
                  </a:ext>
                </a:extLst>
              </a:tr>
            </a:tbl>
          </a:graphicData>
        </a:graphic>
      </p:graphicFrame>
    </p:spTree>
    <p:extLst>
      <p:ext uri="{BB962C8B-B14F-4D97-AF65-F5344CB8AC3E}">
        <p14:creationId xmlns:p14="http://schemas.microsoft.com/office/powerpoint/2010/main" val="41915931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11D395-FA6C-11E3-EDF7-C55A253A74C9}"/>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a:solidFill>
                  <a:schemeClr val="tx1"/>
                </a:solidFill>
                <a:latin typeface="+mj-lt"/>
                <a:ea typeface="+mj-ea"/>
                <a:cs typeface="+mj-cs"/>
              </a:rPr>
              <a:t>MLR (with feature selection)</a:t>
            </a:r>
          </a:p>
        </p:txBody>
      </p:sp>
      <p:pic>
        <p:nvPicPr>
          <p:cNvPr id="4" name="Picture 3">
            <a:extLst>
              <a:ext uri="{FF2B5EF4-FFF2-40B4-BE49-F238E27FC236}">
                <a16:creationId xmlns:a16="http://schemas.microsoft.com/office/drawing/2014/main" id="{799F96D3-D678-828D-1C00-8F785D374D17}"/>
              </a:ext>
            </a:extLst>
          </p:cNvPr>
          <p:cNvPicPr>
            <a:picLocks noChangeAspect="1"/>
          </p:cNvPicPr>
          <p:nvPr/>
        </p:nvPicPr>
        <p:blipFill>
          <a:blip r:embed="rId2"/>
          <a:stretch>
            <a:fillRect/>
          </a:stretch>
        </p:blipFill>
        <p:spPr>
          <a:xfrm>
            <a:off x="2059305" y="1818528"/>
            <a:ext cx="8073390" cy="4621896"/>
          </a:xfrm>
          <a:prstGeom prst="rect">
            <a:avLst/>
          </a:prstGeom>
        </p:spPr>
      </p:pic>
    </p:spTree>
    <p:extLst>
      <p:ext uri="{BB962C8B-B14F-4D97-AF65-F5344CB8AC3E}">
        <p14:creationId xmlns:p14="http://schemas.microsoft.com/office/powerpoint/2010/main" val="4844004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11D395-FA6C-11E3-EDF7-C55A253A74C9}"/>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dirty="0">
                <a:solidFill>
                  <a:schemeClr val="tx1"/>
                </a:solidFill>
                <a:latin typeface="+mj-lt"/>
                <a:ea typeface="+mj-ea"/>
                <a:cs typeface="+mj-cs"/>
              </a:rPr>
              <a:t>MLR Coefficients</a:t>
            </a:r>
          </a:p>
        </p:txBody>
      </p:sp>
      <p:pic>
        <p:nvPicPr>
          <p:cNvPr id="4" name="Picture 3">
            <a:extLst>
              <a:ext uri="{FF2B5EF4-FFF2-40B4-BE49-F238E27FC236}">
                <a16:creationId xmlns:a16="http://schemas.microsoft.com/office/drawing/2014/main" id="{5038522F-04AC-E8A0-C206-4FA4E358CE0C}"/>
              </a:ext>
            </a:extLst>
          </p:cNvPr>
          <p:cNvPicPr>
            <a:picLocks noChangeAspect="1"/>
          </p:cNvPicPr>
          <p:nvPr/>
        </p:nvPicPr>
        <p:blipFill>
          <a:blip r:embed="rId2"/>
          <a:stretch>
            <a:fillRect/>
          </a:stretch>
        </p:blipFill>
        <p:spPr>
          <a:xfrm>
            <a:off x="1840312" y="1403724"/>
            <a:ext cx="8506778" cy="5202816"/>
          </a:xfrm>
          <a:prstGeom prst="rect">
            <a:avLst/>
          </a:prstGeom>
        </p:spPr>
      </p:pic>
    </p:spTree>
    <p:extLst>
      <p:ext uri="{BB962C8B-B14F-4D97-AF65-F5344CB8AC3E}">
        <p14:creationId xmlns:p14="http://schemas.microsoft.com/office/powerpoint/2010/main" val="120259976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FFD48BC7-DC40-47DE-87EE-9F4B6ECB9A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9" name="Freeform: Shape 8">
            <a:extLst>
              <a:ext uri="{FF2B5EF4-FFF2-40B4-BE49-F238E27FC236}">
                <a16:creationId xmlns:a16="http://schemas.microsoft.com/office/drawing/2014/main" id="{E502BBC7-2C76-46F3-BC24-5985BC13DB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425" y="0"/>
            <a:ext cx="9963150"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 name="Freeform: Shape 10">
            <a:extLst>
              <a:ext uri="{FF2B5EF4-FFF2-40B4-BE49-F238E27FC236}">
                <a16:creationId xmlns:a16="http://schemas.microsoft.com/office/drawing/2014/main" id="{C7F28D52-2A5F-4D23-81AE-7CB8B591C7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1664" y="0"/>
            <a:ext cx="9948672" cy="68580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A1B834EF-045C-1995-D493-C161983A7B49}"/>
              </a:ext>
            </a:extLst>
          </p:cNvPr>
          <p:cNvSpPr>
            <a:spLocks noGrp="1"/>
          </p:cNvSpPr>
          <p:nvPr>
            <p:ph type="title"/>
          </p:nvPr>
        </p:nvSpPr>
        <p:spPr>
          <a:xfrm>
            <a:off x="1524003" y="1999614"/>
            <a:ext cx="9144000" cy="3029585"/>
          </a:xfrm>
        </p:spPr>
        <p:txBody>
          <a:bodyPr vert="horz" lIns="91440" tIns="45720" rIns="91440" bIns="45720" rtlCol="0" anchor="ctr">
            <a:normAutofit fontScale="90000"/>
          </a:bodyPr>
          <a:lstStyle/>
          <a:p>
            <a:pPr algn="ctr"/>
            <a:r>
              <a:rPr lang="en-US" sz="6000" kern="1200" dirty="0">
                <a:solidFill>
                  <a:schemeClr val="tx1"/>
                </a:solidFill>
                <a:latin typeface="+mj-lt"/>
                <a:ea typeface="+mj-ea"/>
                <a:cs typeface="+mj-cs"/>
              </a:rPr>
              <a:t>Random Forests</a:t>
            </a:r>
            <a:br>
              <a:rPr lang="en-US" sz="1800" kern="1200" dirty="0">
                <a:solidFill>
                  <a:schemeClr val="tx1"/>
                </a:solidFill>
                <a:latin typeface="+mj-lt"/>
                <a:ea typeface="+mj-ea"/>
                <a:cs typeface="+mj-cs"/>
              </a:rPr>
            </a:br>
            <a:br>
              <a:rPr lang="en-US" sz="2200" kern="1200" dirty="0">
                <a:solidFill>
                  <a:schemeClr val="tx1"/>
                </a:solidFill>
                <a:latin typeface="+mj-lt"/>
                <a:ea typeface="+mj-ea"/>
                <a:cs typeface="+mj-cs"/>
              </a:rPr>
            </a:br>
            <a:br>
              <a:rPr lang="en-US" sz="2200" kern="1200" dirty="0">
                <a:solidFill>
                  <a:schemeClr val="tx1"/>
                </a:solidFill>
                <a:latin typeface="+mj-lt"/>
                <a:ea typeface="+mj-ea"/>
                <a:cs typeface="+mj-cs"/>
              </a:rPr>
            </a:br>
            <a:r>
              <a:rPr lang="en-US" sz="2200" kern="1200" dirty="0">
                <a:solidFill>
                  <a:schemeClr val="tx1"/>
                </a:solidFill>
                <a:latin typeface="+mj-lt"/>
                <a:ea typeface="+mj-ea"/>
                <a:cs typeface="+mj-cs"/>
              </a:rPr>
              <a:t>To interpret the direction of the features, the following method was employed: For each feature, two models were generated—one with the feature included and one without. The mean prediction was then calculated for each model. Subsequently, the direction of the feature was determined by subtracting the mean prediction with the feature from the mean prediction without it. If this result yielded a positive number, it signified that the feature positively influenced the target compared to when it was absent.</a:t>
            </a:r>
          </a:p>
        </p:txBody>
      </p:sp>
      <p:sp>
        <p:nvSpPr>
          <p:cNvPr id="13" name="Rectangle 12">
            <a:extLst>
              <a:ext uri="{FF2B5EF4-FFF2-40B4-BE49-F238E27FC236}">
                <a16:creationId xmlns:a16="http://schemas.microsoft.com/office/drawing/2014/main" id="{3629484E-3792-4B3D-89AD-7C8A1ED0E0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5524786"/>
            <a:ext cx="4754880" cy="2743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04666180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43E242-3DBB-C524-0D85-7485658AEC22}"/>
              </a:ext>
            </a:extLst>
          </p:cNvPr>
          <p:cNvSpPr>
            <a:spLocks noGrp="1"/>
          </p:cNvSpPr>
          <p:nvPr>
            <p:ph type="ctrTitle"/>
          </p:nvPr>
        </p:nvSpPr>
        <p:spPr/>
        <p:txBody>
          <a:bodyPr/>
          <a:lstStyle/>
          <a:p>
            <a:r>
              <a:rPr lang="en-US" dirty="0"/>
              <a:t>Random Forests – winter model</a:t>
            </a:r>
          </a:p>
        </p:txBody>
      </p:sp>
    </p:spTree>
    <p:extLst>
      <p:ext uri="{BB962C8B-B14F-4D97-AF65-F5344CB8AC3E}">
        <p14:creationId xmlns:p14="http://schemas.microsoft.com/office/powerpoint/2010/main" val="38679642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311D395-FA6C-11E3-EDF7-C55A253A74C9}"/>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a:solidFill>
                  <a:schemeClr val="tx1"/>
                </a:solidFill>
                <a:latin typeface="+mj-lt"/>
                <a:ea typeface="+mj-ea"/>
                <a:cs typeface="+mj-cs"/>
              </a:rPr>
              <a:t>Random Forests</a:t>
            </a:r>
          </a:p>
        </p:txBody>
      </p:sp>
      <p:sp>
        <p:nvSpPr>
          <p:cNvPr id="11"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onnsiteX0" fmla="*/ 0 w 4572000"/>
              <a:gd name="connsiteY0" fmla="*/ 0 h 18288"/>
              <a:gd name="connsiteX1" fmla="*/ 515983 w 4572000"/>
              <a:gd name="connsiteY1" fmla="*/ 0 h 18288"/>
              <a:gd name="connsiteX2" fmla="*/ 1031966 w 4572000"/>
              <a:gd name="connsiteY2" fmla="*/ 0 h 18288"/>
              <a:gd name="connsiteX3" fmla="*/ 1639389 w 4572000"/>
              <a:gd name="connsiteY3" fmla="*/ 0 h 18288"/>
              <a:gd name="connsiteX4" fmla="*/ 2383971 w 4572000"/>
              <a:gd name="connsiteY4" fmla="*/ 0 h 18288"/>
              <a:gd name="connsiteX5" fmla="*/ 2945674 w 4572000"/>
              <a:gd name="connsiteY5" fmla="*/ 0 h 18288"/>
              <a:gd name="connsiteX6" fmla="*/ 3507377 w 4572000"/>
              <a:gd name="connsiteY6" fmla="*/ 0 h 18288"/>
              <a:gd name="connsiteX7" fmla="*/ 4572000 w 4572000"/>
              <a:gd name="connsiteY7" fmla="*/ 0 h 18288"/>
              <a:gd name="connsiteX8" fmla="*/ 4572000 w 4572000"/>
              <a:gd name="connsiteY8" fmla="*/ 18288 h 18288"/>
              <a:gd name="connsiteX9" fmla="*/ 3873137 w 4572000"/>
              <a:gd name="connsiteY9" fmla="*/ 18288 h 18288"/>
              <a:gd name="connsiteX10" fmla="*/ 3311434 w 4572000"/>
              <a:gd name="connsiteY10" fmla="*/ 18288 h 18288"/>
              <a:gd name="connsiteX11" fmla="*/ 2749731 w 4572000"/>
              <a:gd name="connsiteY11" fmla="*/ 18288 h 18288"/>
              <a:gd name="connsiteX12" fmla="*/ 2050869 w 4572000"/>
              <a:gd name="connsiteY12" fmla="*/ 18288 h 18288"/>
              <a:gd name="connsiteX13" fmla="*/ 1306286 w 4572000"/>
              <a:gd name="connsiteY13" fmla="*/ 18288 h 18288"/>
              <a:gd name="connsiteX14" fmla="*/ 790303 w 4572000"/>
              <a:gd name="connsiteY14" fmla="*/ 18288 h 18288"/>
              <a:gd name="connsiteX15" fmla="*/ 0 w 4572000"/>
              <a:gd name="connsiteY15" fmla="*/ 18288 h 18288"/>
              <a:gd name="connsiteX16" fmla="*/ 0 w 457200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Table 3">
            <a:extLst>
              <a:ext uri="{FF2B5EF4-FFF2-40B4-BE49-F238E27FC236}">
                <a16:creationId xmlns:a16="http://schemas.microsoft.com/office/drawing/2014/main" id="{9B0A006C-D5E4-8C8F-8A7B-716EE0796BEA}"/>
              </a:ext>
            </a:extLst>
          </p:cNvPr>
          <p:cNvGraphicFramePr>
            <a:graphicFrameLocks noGrp="1"/>
          </p:cNvGraphicFramePr>
          <p:nvPr>
            <p:extLst>
              <p:ext uri="{D42A27DB-BD31-4B8C-83A1-F6EECF244321}">
                <p14:modId xmlns:p14="http://schemas.microsoft.com/office/powerpoint/2010/main" val="3675434336"/>
              </p:ext>
            </p:extLst>
          </p:nvPr>
        </p:nvGraphicFramePr>
        <p:xfrm>
          <a:off x="320040" y="2893300"/>
          <a:ext cx="11548872" cy="3066700"/>
        </p:xfrm>
        <a:graphic>
          <a:graphicData uri="http://schemas.openxmlformats.org/drawingml/2006/table">
            <a:tbl>
              <a:tblPr firstRow="1" bandRow="1">
                <a:solidFill>
                  <a:srgbClr val="F2F2F2">
                    <a:alpha val="30196"/>
                  </a:srgbClr>
                </a:solidFill>
                <a:tableStyleId>{5C22544A-7EE6-4342-B048-85BDC9FD1C3A}</a:tableStyleId>
              </a:tblPr>
              <a:tblGrid>
                <a:gridCol w="1950444">
                  <a:extLst>
                    <a:ext uri="{9D8B030D-6E8A-4147-A177-3AD203B41FA5}">
                      <a16:colId xmlns:a16="http://schemas.microsoft.com/office/drawing/2014/main" val="3374051117"/>
                    </a:ext>
                  </a:extLst>
                </a:gridCol>
                <a:gridCol w="4799214">
                  <a:extLst>
                    <a:ext uri="{9D8B030D-6E8A-4147-A177-3AD203B41FA5}">
                      <a16:colId xmlns:a16="http://schemas.microsoft.com/office/drawing/2014/main" val="1171289285"/>
                    </a:ext>
                  </a:extLst>
                </a:gridCol>
                <a:gridCol w="4799214">
                  <a:extLst>
                    <a:ext uri="{9D8B030D-6E8A-4147-A177-3AD203B41FA5}">
                      <a16:colId xmlns:a16="http://schemas.microsoft.com/office/drawing/2014/main" val="3178643292"/>
                    </a:ext>
                  </a:extLst>
                </a:gridCol>
              </a:tblGrid>
              <a:tr h="766675">
                <a:tc>
                  <a:txBody>
                    <a:bodyPr/>
                    <a:lstStyle/>
                    <a:p>
                      <a:endParaRPr lang="en-US" sz="2500" b="0" cap="none" spc="0">
                        <a:solidFill>
                          <a:schemeClr val="bg1"/>
                        </a:solidFill>
                      </a:endParaRPr>
                    </a:p>
                  </a:txBody>
                  <a:tcPr marL="210566" marR="161973" marT="161973" marB="161973" anchor="ctr">
                    <a:lnL w="19050" cap="flat" cmpd="sng" algn="ctr">
                      <a:noFill/>
                      <a:prstDash val="solid"/>
                    </a:lnL>
                    <a:lnR w="12700" cmpd="sng">
                      <a:noFill/>
                    </a:lnR>
                    <a:lnT w="19050" cap="flat" cmpd="sng" algn="ctr">
                      <a:noFill/>
                      <a:prstDash val="solid"/>
                    </a:lnT>
                    <a:lnB w="38100" cmpd="sng">
                      <a:noFill/>
                    </a:lnB>
                    <a:solidFill>
                      <a:schemeClr val="accent1"/>
                    </a:solidFill>
                  </a:tcPr>
                </a:tc>
                <a:tc>
                  <a:txBody>
                    <a:bodyPr/>
                    <a:lstStyle/>
                    <a:p>
                      <a:r>
                        <a:rPr lang="en-US" sz="2500" b="0" cap="none" spc="0" dirty="0">
                          <a:solidFill>
                            <a:schemeClr val="bg1"/>
                          </a:solidFill>
                        </a:rPr>
                        <a:t>Train</a:t>
                      </a:r>
                    </a:p>
                  </a:txBody>
                  <a:tcPr marL="210566" marR="161973" marT="161973" marB="161973" anchor="ctr">
                    <a:lnL w="12700" cmpd="sng">
                      <a:noFill/>
                    </a:lnL>
                    <a:lnR w="12700" cmpd="sng">
                      <a:noFill/>
                    </a:lnR>
                    <a:lnT w="19050" cap="flat" cmpd="sng" algn="ctr">
                      <a:noFill/>
                      <a:prstDash val="solid"/>
                    </a:lnT>
                    <a:lnB w="38100" cmpd="sng">
                      <a:noFill/>
                    </a:lnB>
                    <a:solidFill>
                      <a:schemeClr val="accent1"/>
                    </a:solidFill>
                  </a:tcPr>
                </a:tc>
                <a:tc>
                  <a:txBody>
                    <a:bodyPr/>
                    <a:lstStyle/>
                    <a:p>
                      <a:r>
                        <a:rPr lang="en-US" sz="2500" b="0" cap="none" spc="0">
                          <a:solidFill>
                            <a:schemeClr val="bg1"/>
                          </a:solidFill>
                        </a:rPr>
                        <a:t>Test</a:t>
                      </a:r>
                    </a:p>
                  </a:txBody>
                  <a:tcPr marL="210566" marR="161973" marT="161973" marB="161973" anchor="ctr">
                    <a:lnL w="12700" cmpd="sng">
                      <a:noFill/>
                    </a:lnL>
                    <a:lnR w="12700" cmpd="sng">
                      <a:noFill/>
                    </a:lnR>
                    <a:lnT w="19050" cap="flat" cmpd="sng" algn="ctr">
                      <a:noFill/>
                      <a:prstDash val="solid"/>
                    </a:lnT>
                    <a:lnB w="38100" cmpd="sng">
                      <a:noFill/>
                    </a:lnB>
                    <a:solidFill>
                      <a:schemeClr val="accent1"/>
                    </a:solidFill>
                  </a:tcPr>
                </a:tc>
                <a:extLst>
                  <a:ext uri="{0D108BD9-81ED-4DB2-BD59-A6C34878D82A}">
                    <a16:rowId xmlns:a16="http://schemas.microsoft.com/office/drawing/2014/main" val="1035545069"/>
                  </a:ext>
                </a:extLst>
              </a:tr>
              <a:tr h="766675">
                <a:tc>
                  <a:txBody>
                    <a:bodyPr/>
                    <a:lstStyle/>
                    <a:p>
                      <a:r>
                        <a:rPr lang="en-US" sz="2500" cap="none" spc="0" err="1">
                          <a:solidFill>
                            <a:schemeClr val="tx1"/>
                          </a:solidFill>
                        </a:rPr>
                        <a:t>rmse</a:t>
                      </a:r>
                      <a:endParaRPr lang="en-US" sz="2500" cap="none" spc="0">
                        <a:solidFill>
                          <a:schemeClr val="tx1"/>
                        </a:solidFill>
                      </a:endParaRPr>
                    </a:p>
                  </a:txBody>
                  <a:tcPr marL="210566" marR="161973" marT="161973" marB="161973">
                    <a:lnL w="38100" cap="flat" cmpd="sng" algn="ctr">
                      <a:noFill/>
                      <a:prstDash val="solid"/>
                    </a:lnL>
                    <a:lnR w="6350" cap="flat" cmpd="sng" algn="ctr">
                      <a:solidFill>
                        <a:schemeClr val="tx1">
                          <a:lumMod val="75000"/>
                          <a:lumOff val="25000"/>
                        </a:schemeClr>
                      </a:solidFill>
                      <a:prstDash val="solid"/>
                    </a:lnR>
                    <a:lnT w="38100" cmpd="sng">
                      <a:noFill/>
                    </a:lnT>
                    <a:lnB w="6350" cap="flat" cmpd="sng" algn="ctr">
                      <a:noFill/>
                      <a:prstDash val="solid"/>
                    </a:lnB>
                    <a:solidFill>
                      <a:srgbClr val="F2F2F2">
                        <a:alpha val="30196"/>
                      </a:srgbClr>
                    </a:solidFill>
                  </a:tcPr>
                </a:tc>
                <a:tc>
                  <a:txBody>
                    <a:bodyPr/>
                    <a:lstStyle/>
                    <a:p>
                      <a:r>
                        <a:rPr lang="en-US" sz="1800" b="0" i="0" kern="1200" dirty="0">
                          <a:solidFill>
                            <a:schemeClr val="dk1"/>
                          </a:solidFill>
                          <a:effectLst/>
                          <a:latin typeface="+mn-lt"/>
                          <a:ea typeface="+mn-ea"/>
                          <a:cs typeface="+mn-cs"/>
                        </a:rPr>
                        <a:t>2.697</a:t>
                      </a:r>
                      <a:endParaRPr lang="en-US" sz="2800" cap="none" spc="0" dirty="0">
                        <a:solidFill>
                          <a:schemeClr val="tx1"/>
                        </a:solidFill>
                      </a:endParaRPr>
                    </a:p>
                  </a:txBody>
                  <a:tcPr marL="210566" marR="161973" marT="161973" marB="161973">
                    <a:lnL w="6350" cap="flat" cmpd="sng" algn="ctr">
                      <a:solidFill>
                        <a:schemeClr val="tx1">
                          <a:lumMod val="75000"/>
                          <a:lumOff val="25000"/>
                        </a:schemeClr>
                      </a:solidFill>
                      <a:prstDash val="solid"/>
                    </a:lnL>
                    <a:lnR w="6350" cap="flat" cmpd="sng" algn="ctr">
                      <a:solidFill>
                        <a:schemeClr val="tx1">
                          <a:lumMod val="75000"/>
                          <a:lumOff val="25000"/>
                        </a:schemeClr>
                      </a:solidFill>
                      <a:prstDash val="solid"/>
                    </a:lnR>
                    <a:lnT w="38100" cmpd="sng">
                      <a:noFill/>
                    </a:lnT>
                    <a:lnB w="6350" cap="flat" cmpd="sng" algn="ctr">
                      <a:noFill/>
                      <a:prstDash val="solid"/>
                    </a:lnB>
                    <a:solidFill>
                      <a:srgbClr val="F2F2F2">
                        <a:alpha val="30196"/>
                      </a:srgbClr>
                    </a:solidFill>
                  </a:tcPr>
                </a:tc>
                <a:tc>
                  <a:txBody>
                    <a:bodyPr/>
                    <a:lstStyle/>
                    <a:p>
                      <a:r>
                        <a:rPr lang="en-US" sz="1800" b="0" i="0" kern="1200" dirty="0">
                          <a:solidFill>
                            <a:schemeClr val="dk1"/>
                          </a:solidFill>
                          <a:effectLst/>
                          <a:latin typeface="+mn-lt"/>
                          <a:ea typeface="+mn-ea"/>
                          <a:cs typeface="+mn-cs"/>
                        </a:rPr>
                        <a:t>3.944</a:t>
                      </a:r>
                      <a:endParaRPr lang="en-US" sz="2800" cap="none" spc="0" dirty="0">
                        <a:solidFill>
                          <a:schemeClr val="tx1"/>
                        </a:solidFill>
                      </a:endParaRPr>
                    </a:p>
                  </a:txBody>
                  <a:tcPr marL="210566" marR="161973" marT="161973" marB="161973">
                    <a:lnL w="6350" cap="flat" cmpd="sng" algn="ctr">
                      <a:solidFill>
                        <a:schemeClr val="tx1">
                          <a:lumMod val="75000"/>
                          <a:lumOff val="25000"/>
                        </a:schemeClr>
                      </a:solidFill>
                      <a:prstDash val="solid"/>
                    </a:lnL>
                    <a:lnR w="38100" cap="flat" cmpd="sng" algn="ctr">
                      <a:noFill/>
                      <a:prstDash val="solid"/>
                    </a:lnR>
                    <a:lnT w="38100" cmpd="sng">
                      <a:noFill/>
                    </a:lnT>
                    <a:lnB w="6350" cap="flat" cmpd="sng" algn="ctr">
                      <a:noFill/>
                      <a:prstDash val="solid"/>
                    </a:lnB>
                    <a:solidFill>
                      <a:srgbClr val="F2F2F2">
                        <a:alpha val="30196"/>
                      </a:srgbClr>
                    </a:solidFill>
                  </a:tcPr>
                </a:tc>
                <a:extLst>
                  <a:ext uri="{0D108BD9-81ED-4DB2-BD59-A6C34878D82A}">
                    <a16:rowId xmlns:a16="http://schemas.microsoft.com/office/drawing/2014/main" val="220561925"/>
                  </a:ext>
                </a:extLst>
              </a:tr>
              <a:tr h="766675">
                <a:tc>
                  <a:txBody>
                    <a:bodyPr/>
                    <a:lstStyle/>
                    <a:p>
                      <a:r>
                        <a:rPr lang="en-US" sz="2500" cap="none" spc="0">
                          <a:solidFill>
                            <a:schemeClr val="tx1"/>
                          </a:solidFill>
                        </a:rPr>
                        <a:t>std</a:t>
                      </a:r>
                    </a:p>
                  </a:txBody>
                  <a:tcPr marL="210566" marR="161973" marT="161973" marB="161973">
                    <a:lnL w="6350" cap="flat" cmpd="sng" algn="ctr">
                      <a:noFill/>
                      <a:prstDash val="solid"/>
                    </a:lnL>
                    <a:lnR w="6350" cap="flat" cmpd="sng" algn="ctr">
                      <a:noFill/>
                      <a:prstDash val="solid"/>
                    </a:lnR>
                    <a:lnT w="6350" cap="flat" cmpd="sng" algn="ctr">
                      <a:noFill/>
                      <a:prstDash val="solid"/>
                    </a:lnT>
                    <a:lnB w="12700" cmpd="sng">
                      <a:noFill/>
                      <a:prstDash val="solid"/>
                    </a:lnB>
                    <a:solidFill>
                      <a:schemeClr val="bg1">
                        <a:lumMod val="95000"/>
                      </a:schemeClr>
                    </a:solidFill>
                  </a:tcPr>
                </a:tc>
                <a:tc>
                  <a:txBody>
                    <a:bodyPr/>
                    <a:lstStyle/>
                    <a:p>
                      <a:r>
                        <a:rPr lang="en-US" sz="1800" b="0" i="0" kern="1200" dirty="0">
                          <a:solidFill>
                            <a:schemeClr val="dk1"/>
                          </a:solidFill>
                          <a:effectLst/>
                          <a:latin typeface="+mn-lt"/>
                          <a:ea typeface="+mn-ea"/>
                          <a:cs typeface="+mn-cs"/>
                        </a:rPr>
                        <a:t>4.672</a:t>
                      </a:r>
                      <a:endParaRPr lang="en-US" sz="2800" cap="none" spc="0" dirty="0">
                        <a:solidFill>
                          <a:schemeClr val="tx1"/>
                        </a:solidFill>
                      </a:endParaRPr>
                    </a:p>
                  </a:txBody>
                  <a:tcPr marL="210566" marR="161973" marT="161973" marB="161973">
                    <a:lnL w="6350" cap="flat" cmpd="sng" algn="ctr">
                      <a:noFill/>
                      <a:prstDash val="solid"/>
                    </a:lnL>
                    <a:lnR w="6350" cap="flat" cmpd="sng" algn="ctr">
                      <a:noFill/>
                      <a:prstDash val="solid"/>
                    </a:lnR>
                    <a:lnT w="6350" cap="flat" cmpd="sng" algn="ctr">
                      <a:noFill/>
                      <a:prstDash val="solid"/>
                    </a:lnT>
                    <a:lnB w="12700" cmpd="sng">
                      <a:noFill/>
                      <a:prstDash val="solid"/>
                    </a:lnB>
                    <a:solidFill>
                      <a:schemeClr val="bg1">
                        <a:lumMod val="95000"/>
                      </a:schemeClr>
                    </a:solidFill>
                  </a:tcPr>
                </a:tc>
                <a:tc>
                  <a:txBody>
                    <a:bodyPr/>
                    <a:lstStyle/>
                    <a:p>
                      <a:r>
                        <a:rPr lang="en-US" sz="1800" b="0" i="0" kern="1200" dirty="0">
                          <a:solidFill>
                            <a:schemeClr val="dk1"/>
                          </a:solidFill>
                          <a:effectLst/>
                          <a:latin typeface="+mn-lt"/>
                          <a:ea typeface="+mn-ea"/>
                          <a:cs typeface="+mn-cs"/>
                        </a:rPr>
                        <a:t>4.615</a:t>
                      </a:r>
                      <a:endParaRPr lang="en-US" sz="2800" cap="none" spc="0" dirty="0">
                        <a:solidFill>
                          <a:schemeClr val="tx1"/>
                        </a:solidFill>
                      </a:endParaRPr>
                    </a:p>
                  </a:txBody>
                  <a:tcPr marL="210566" marR="161973" marT="161973" marB="161973">
                    <a:lnL w="6350" cap="flat" cmpd="sng" algn="ctr">
                      <a:noFill/>
                      <a:prstDash val="solid"/>
                    </a:lnL>
                    <a:lnR w="12700" cmpd="sng">
                      <a:noFill/>
                      <a:prstDash val="solid"/>
                    </a:lnR>
                    <a:lnT w="6350" cap="flat" cmpd="sng" algn="ctr">
                      <a:noFill/>
                      <a:prstDash val="solid"/>
                    </a:lnT>
                    <a:lnB w="12700" cmpd="sng">
                      <a:noFill/>
                      <a:prstDash val="solid"/>
                    </a:lnB>
                    <a:solidFill>
                      <a:schemeClr val="bg1">
                        <a:lumMod val="95000"/>
                      </a:schemeClr>
                    </a:solidFill>
                  </a:tcPr>
                </a:tc>
                <a:extLst>
                  <a:ext uri="{0D108BD9-81ED-4DB2-BD59-A6C34878D82A}">
                    <a16:rowId xmlns:a16="http://schemas.microsoft.com/office/drawing/2014/main" val="3068550116"/>
                  </a:ext>
                </a:extLst>
              </a:tr>
              <a:tr h="766675">
                <a:tc>
                  <a:txBody>
                    <a:bodyPr/>
                    <a:lstStyle/>
                    <a:p>
                      <a:r>
                        <a:rPr lang="en-US" sz="2500" cap="none" spc="0">
                          <a:solidFill>
                            <a:schemeClr val="tx1"/>
                          </a:solidFill>
                        </a:rPr>
                        <a:t>r2</a:t>
                      </a:r>
                    </a:p>
                  </a:txBody>
                  <a:tcPr marL="210566" marR="161973" marT="161973" marB="161973">
                    <a:lnL w="38100" cap="flat" cmpd="sng" algn="ctr">
                      <a:noFill/>
                      <a:prstDash val="solid"/>
                    </a:lnL>
                    <a:lnR w="6350" cap="flat" cmpd="sng" algn="ctr">
                      <a:solidFill>
                        <a:schemeClr val="tx1">
                          <a:lumMod val="75000"/>
                          <a:lumOff val="25000"/>
                        </a:schemeClr>
                      </a:solidFill>
                      <a:prstDash val="solid"/>
                    </a:lnR>
                    <a:lnT w="12700" cmpd="sng">
                      <a:noFill/>
                      <a:prstDash val="solid"/>
                    </a:lnT>
                    <a:lnB w="38100" cap="flat" cmpd="sng" algn="ctr">
                      <a:noFill/>
                      <a:prstDash val="solid"/>
                    </a:lnB>
                    <a:solidFill>
                      <a:srgbClr val="F2F2F2">
                        <a:alpha val="30196"/>
                      </a:srgbClr>
                    </a:solidFill>
                  </a:tcPr>
                </a:tc>
                <a:tc>
                  <a:txBody>
                    <a:bodyPr/>
                    <a:lstStyle/>
                    <a:p>
                      <a:r>
                        <a:rPr lang="en-US" sz="1800" b="0" i="0" kern="1200" dirty="0">
                          <a:solidFill>
                            <a:schemeClr val="dk1"/>
                          </a:solidFill>
                          <a:effectLst/>
                          <a:latin typeface="+mn-lt"/>
                          <a:ea typeface="+mn-ea"/>
                          <a:cs typeface="+mn-cs"/>
                        </a:rPr>
                        <a:t>0.666</a:t>
                      </a:r>
                      <a:endParaRPr lang="en-US" sz="2800" cap="none" spc="0" dirty="0">
                        <a:solidFill>
                          <a:schemeClr val="tx1"/>
                        </a:solidFill>
                      </a:endParaRPr>
                    </a:p>
                  </a:txBody>
                  <a:tcPr marL="210566" marR="161973" marT="161973" marB="161973">
                    <a:lnL w="6350" cap="flat" cmpd="sng" algn="ctr">
                      <a:solidFill>
                        <a:schemeClr val="tx1">
                          <a:lumMod val="75000"/>
                          <a:lumOff val="25000"/>
                        </a:schemeClr>
                      </a:solidFill>
                      <a:prstDash val="solid"/>
                    </a:lnL>
                    <a:lnR w="6350" cap="flat" cmpd="sng" algn="ctr">
                      <a:solidFill>
                        <a:schemeClr val="tx1">
                          <a:lumMod val="75000"/>
                          <a:lumOff val="25000"/>
                        </a:schemeClr>
                      </a:solidFill>
                      <a:prstDash val="solid"/>
                    </a:lnR>
                    <a:lnT w="12700" cmpd="sng">
                      <a:noFill/>
                      <a:prstDash val="solid"/>
                    </a:lnT>
                    <a:lnB w="38100" cap="flat" cmpd="sng" algn="ctr">
                      <a:noFill/>
                      <a:prstDash val="solid"/>
                    </a:lnB>
                    <a:solidFill>
                      <a:srgbClr val="F2F2F2">
                        <a:alpha val="30196"/>
                      </a:srgbClr>
                    </a:solidFill>
                  </a:tcPr>
                </a:tc>
                <a:tc>
                  <a:txBody>
                    <a:bodyPr/>
                    <a:lstStyle/>
                    <a:p>
                      <a:r>
                        <a:rPr lang="en-US" sz="1800" b="0" i="0" kern="1200" dirty="0">
                          <a:solidFill>
                            <a:schemeClr val="dk1"/>
                          </a:solidFill>
                          <a:effectLst/>
                          <a:latin typeface="+mn-lt"/>
                          <a:ea typeface="+mn-ea"/>
                          <a:cs typeface="+mn-cs"/>
                        </a:rPr>
                        <a:t>0.268</a:t>
                      </a:r>
                      <a:endParaRPr lang="en-US" sz="2800" cap="none" spc="0" dirty="0">
                        <a:solidFill>
                          <a:schemeClr val="tx1"/>
                        </a:solidFill>
                      </a:endParaRPr>
                    </a:p>
                  </a:txBody>
                  <a:tcPr marL="210566" marR="161973" marT="161973" marB="161973">
                    <a:lnL w="6350" cap="flat" cmpd="sng" algn="ctr">
                      <a:solidFill>
                        <a:schemeClr val="tx1">
                          <a:lumMod val="75000"/>
                          <a:lumOff val="25000"/>
                        </a:schemeClr>
                      </a:solidFill>
                      <a:prstDash val="solid"/>
                    </a:lnL>
                    <a:lnR w="38100" cap="flat" cmpd="sng" algn="ctr">
                      <a:noFill/>
                      <a:prstDash val="solid"/>
                    </a:lnR>
                    <a:lnT w="12700" cmpd="sng">
                      <a:noFill/>
                      <a:prstDash val="solid"/>
                    </a:lnT>
                    <a:lnB w="38100" cap="flat" cmpd="sng" algn="ctr">
                      <a:noFill/>
                      <a:prstDash val="solid"/>
                    </a:lnB>
                    <a:solidFill>
                      <a:srgbClr val="F2F2F2">
                        <a:alpha val="30196"/>
                      </a:srgbClr>
                    </a:solidFill>
                  </a:tcPr>
                </a:tc>
                <a:extLst>
                  <a:ext uri="{0D108BD9-81ED-4DB2-BD59-A6C34878D82A}">
                    <a16:rowId xmlns:a16="http://schemas.microsoft.com/office/drawing/2014/main" val="1022304556"/>
                  </a:ext>
                </a:extLst>
              </a:tr>
            </a:tbl>
          </a:graphicData>
        </a:graphic>
      </p:graphicFrame>
    </p:spTree>
    <p:extLst>
      <p:ext uri="{BB962C8B-B14F-4D97-AF65-F5344CB8AC3E}">
        <p14:creationId xmlns:p14="http://schemas.microsoft.com/office/powerpoint/2010/main" val="29737794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311D395-FA6C-11E3-EDF7-C55A253A74C9}"/>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a:solidFill>
                  <a:schemeClr val="tx1"/>
                </a:solidFill>
                <a:latin typeface="+mj-lt"/>
                <a:ea typeface="+mj-ea"/>
                <a:cs typeface="+mj-cs"/>
              </a:rPr>
              <a:t>Random Forests</a:t>
            </a:r>
          </a:p>
        </p:txBody>
      </p:sp>
      <p:sp>
        <p:nvSpPr>
          <p:cNvPr id="11"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onnsiteX0" fmla="*/ 0 w 4572000"/>
              <a:gd name="connsiteY0" fmla="*/ 0 h 18288"/>
              <a:gd name="connsiteX1" fmla="*/ 515983 w 4572000"/>
              <a:gd name="connsiteY1" fmla="*/ 0 h 18288"/>
              <a:gd name="connsiteX2" fmla="*/ 1031966 w 4572000"/>
              <a:gd name="connsiteY2" fmla="*/ 0 h 18288"/>
              <a:gd name="connsiteX3" fmla="*/ 1639389 w 4572000"/>
              <a:gd name="connsiteY3" fmla="*/ 0 h 18288"/>
              <a:gd name="connsiteX4" fmla="*/ 2383971 w 4572000"/>
              <a:gd name="connsiteY4" fmla="*/ 0 h 18288"/>
              <a:gd name="connsiteX5" fmla="*/ 2945674 w 4572000"/>
              <a:gd name="connsiteY5" fmla="*/ 0 h 18288"/>
              <a:gd name="connsiteX6" fmla="*/ 3507377 w 4572000"/>
              <a:gd name="connsiteY6" fmla="*/ 0 h 18288"/>
              <a:gd name="connsiteX7" fmla="*/ 4572000 w 4572000"/>
              <a:gd name="connsiteY7" fmla="*/ 0 h 18288"/>
              <a:gd name="connsiteX8" fmla="*/ 4572000 w 4572000"/>
              <a:gd name="connsiteY8" fmla="*/ 18288 h 18288"/>
              <a:gd name="connsiteX9" fmla="*/ 3873137 w 4572000"/>
              <a:gd name="connsiteY9" fmla="*/ 18288 h 18288"/>
              <a:gd name="connsiteX10" fmla="*/ 3311434 w 4572000"/>
              <a:gd name="connsiteY10" fmla="*/ 18288 h 18288"/>
              <a:gd name="connsiteX11" fmla="*/ 2749731 w 4572000"/>
              <a:gd name="connsiteY11" fmla="*/ 18288 h 18288"/>
              <a:gd name="connsiteX12" fmla="*/ 2050869 w 4572000"/>
              <a:gd name="connsiteY12" fmla="*/ 18288 h 18288"/>
              <a:gd name="connsiteX13" fmla="*/ 1306286 w 4572000"/>
              <a:gd name="connsiteY13" fmla="*/ 18288 h 18288"/>
              <a:gd name="connsiteX14" fmla="*/ 790303 w 4572000"/>
              <a:gd name="connsiteY14" fmla="*/ 18288 h 18288"/>
              <a:gd name="connsiteX15" fmla="*/ 0 w 4572000"/>
              <a:gd name="connsiteY15" fmla="*/ 18288 h 18288"/>
              <a:gd name="connsiteX16" fmla="*/ 0 w 457200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1F848E76-32FA-DE12-37D8-7653526C6108}"/>
              </a:ext>
            </a:extLst>
          </p:cNvPr>
          <p:cNvPicPr>
            <a:picLocks noChangeAspect="1"/>
          </p:cNvPicPr>
          <p:nvPr/>
        </p:nvPicPr>
        <p:blipFill>
          <a:blip r:embed="rId2"/>
          <a:stretch>
            <a:fillRect/>
          </a:stretch>
        </p:blipFill>
        <p:spPr>
          <a:xfrm>
            <a:off x="1804740" y="1961952"/>
            <a:ext cx="8185079" cy="4685837"/>
          </a:xfrm>
          <a:prstGeom prst="rect">
            <a:avLst/>
          </a:prstGeom>
        </p:spPr>
      </p:pic>
    </p:spTree>
    <p:extLst>
      <p:ext uri="{BB962C8B-B14F-4D97-AF65-F5344CB8AC3E}">
        <p14:creationId xmlns:p14="http://schemas.microsoft.com/office/powerpoint/2010/main" val="3185318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311D395-FA6C-11E3-EDF7-C55A253A74C9}"/>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a:solidFill>
                  <a:schemeClr val="tx1"/>
                </a:solidFill>
                <a:latin typeface="+mj-lt"/>
                <a:ea typeface="+mj-ea"/>
                <a:cs typeface="+mj-cs"/>
              </a:rPr>
              <a:t>Random Forests</a:t>
            </a:r>
          </a:p>
        </p:txBody>
      </p:sp>
      <p:sp>
        <p:nvSpPr>
          <p:cNvPr id="11"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onnsiteX0" fmla="*/ 0 w 4572000"/>
              <a:gd name="connsiteY0" fmla="*/ 0 h 18288"/>
              <a:gd name="connsiteX1" fmla="*/ 515983 w 4572000"/>
              <a:gd name="connsiteY1" fmla="*/ 0 h 18288"/>
              <a:gd name="connsiteX2" fmla="*/ 1031966 w 4572000"/>
              <a:gd name="connsiteY2" fmla="*/ 0 h 18288"/>
              <a:gd name="connsiteX3" fmla="*/ 1639389 w 4572000"/>
              <a:gd name="connsiteY3" fmla="*/ 0 h 18288"/>
              <a:gd name="connsiteX4" fmla="*/ 2383971 w 4572000"/>
              <a:gd name="connsiteY4" fmla="*/ 0 h 18288"/>
              <a:gd name="connsiteX5" fmla="*/ 2945674 w 4572000"/>
              <a:gd name="connsiteY5" fmla="*/ 0 h 18288"/>
              <a:gd name="connsiteX6" fmla="*/ 3507377 w 4572000"/>
              <a:gd name="connsiteY6" fmla="*/ 0 h 18288"/>
              <a:gd name="connsiteX7" fmla="*/ 4572000 w 4572000"/>
              <a:gd name="connsiteY7" fmla="*/ 0 h 18288"/>
              <a:gd name="connsiteX8" fmla="*/ 4572000 w 4572000"/>
              <a:gd name="connsiteY8" fmla="*/ 18288 h 18288"/>
              <a:gd name="connsiteX9" fmla="*/ 3873137 w 4572000"/>
              <a:gd name="connsiteY9" fmla="*/ 18288 h 18288"/>
              <a:gd name="connsiteX10" fmla="*/ 3311434 w 4572000"/>
              <a:gd name="connsiteY10" fmla="*/ 18288 h 18288"/>
              <a:gd name="connsiteX11" fmla="*/ 2749731 w 4572000"/>
              <a:gd name="connsiteY11" fmla="*/ 18288 h 18288"/>
              <a:gd name="connsiteX12" fmla="*/ 2050869 w 4572000"/>
              <a:gd name="connsiteY12" fmla="*/ 18288 h 18288"/>
              <a:gd name="connsiteX13" fmla="*/ 1306286 w 4572000"/>
              <a:gd name="connsiteY13" fmla="*/ 18288 h 18288"/>
              <a:gd name="connsiteX14" fmla="*/ 790303 w 4572000"/>
              <a:gd name="connsiteY14" fmla="*/ 18288 h 18288"/>
              <a:gd name="connsiteX15" fmla="*/ 0 w 4572000"/>
              <a:gd name="connsiteY15" fmla="*/ 18288 h 18288"/>
              <a:gd name="connsiteX16" fmla="*/ 0 w 457200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D5D31C4F-2D93-C988-CB9D-4A6DC0089027}"/>
              </a:ext>
            </a:extLst>
          </p:cNvPr>
          <p:cNvPicPr>
            <a:picLocks noChangeAspect="1"/>
          </p:cNvPicPr>
          <p:nvPr/>
        </p:nvPicPr>
        <p:blipFill>
          <a:blip r:embed="rId2"/>
          <a:stretch>
            <a:fillRect/>
          </a:stretch>
        </p:blipFill>
        <p:spPr>
          <a:xfrm>
            <a:off x="2000250" y="1898133"/>
            <a:ext cx="7627620" cy="4542291"/>
          </a:xfrm>
          <a:prstGeom prst="rect">
            <a:avLst/>
          </a:prstGeom>
        </p:spPr>
      </p:pic>
    </p:spTree>
    <p:extLst>
      <p:ext uri="{BB962C8B-B14F-4D97-AF65-F5344CB8AC3E}">
        <p14:creationId xmlns:p14="http://schemas.microsoft.com/office/powerpoint/2010/main" val="28485962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43E242-3DBB-C524-0D85-7485658AEC22}"/>
              </a:ext>
            </a:extLst>
          </p:cNvPr>
          <p:cNvSpPr>
            <a:spLocks noGrp="1"/>
          </p:cNvSpPr>
          <p:nvPr>
            <p:ph type="ctrTitle"/>
          </p:nvPr>
        </p:nvSpPr>
        <p:spPr/>
        <p:txBody>
          <a:bodyPr/>
          <a:lstStyle/>
          <a:p>
            <a:r>
              <a:rPr lang="en-US" dirty="0"/>
              <a:t>Random Forests – summer model</a:t>
            </a:r>
          </a:p>
        </p:txBody>
      </p:sp>
    </p:spTree>
    <p:extLst>
      <p:ext uri="{BB962C8B-B14F-4D97-AF65-F5344CB8AC3E}">
        <p14:creationId xmlns:p14="http://schemas.microsoft.com/office/powerpoint/2010/main" val="222593905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11D395-FA6C-11E3-EDF7-C55A253A74C9}"/>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a:solidFill>
                  <a:schemeClr val="tx1"/>
                </a:solidFill>
                <a:latin typeface="+mj-lt"/>
                <a:ea typeface="+mj-ea"/>
                <a:cs typeface="+mj-cs"/>
              </a:rPr>
              <a:t>Random Forests</a:t>
            </a:r>
          </a:p>
        </p:txBody>
      </p:sp>
      <p:graphicFrame>
        <p:nvGraphicFramePr>
          <p:cNvPr id="4" name="Table 3">
            <a:extLst>
              <a:ext uri="{FF2B5EF4-FFF2-40B4-BE49-F238E27FC236}">
                <a16:creationId xmlns:a16="http://schemas.microsoft.com/office/drawing/2014/main" id="{9B0A006C-D5E4-8C8F-8A7B-716EE0796BEA}"/>
              </a:ext>
            </a:extLst>
          </p:cNvPr>
          <p:cNvGraphicFramePr>
            <a:graphicFrameLocks noGrp="1"/>
          </p:cNvGraphicFramePr>
          <p:nvPr>
            <p:extLst>
              <p:ext uri="{D42A27DB-BD31-4B8C-83A1-F6EECF244321}">
                <p14:modId xmlns:p14="http://schemas.microsoft.com/office/powerpoint/2010/main" val="2967480558"/>
              </p:ext>
            </p:extLst>
          </p:nvPr>
        </p:nvGraphicFramePr>
        <p:xfrm>
          <a:off x="320040" y="2893300"/>
          <a:ext cx="11548872" cy="3066700"/>
        </p:xfrm>
        <a:graphic>
          <a:graphicData uri="http://schemas.openxmlformats.org/drawingml/2006/table">
            <a:tbl>
              <a:tblPr firstRow="1" bandRow="1">
                <a:solidFill>
                  <a:srgbClr val="F2F2F2">
                    <a:alpha val="30196"/>
                  </a:srgbClr>
                </a:solidFill>
                <a:tableStyleId>{5C22544A-7EE6-4342-B048-85BDC9FD1C3A}</a:tableStyleId>
              </a:tblPr>
              <a:tblGrid>
                <a:gridCol w="1950444">
                  <a:extLst>
                    <a:ext uri="{9D8B030D-6E8A-4147-A177-3AD203B41FA5}">
                      <a16:colId xmlns:a16="http://schemas.microsoft.com/office/drawing/2014/main" val="3374051117"/>
                    </a:ext>
                  </a:extLst>
                </a:gridCol>
                <a:gridCol w="4799214">
                  <a:extLst>
                    <a:ext uri="{9D8B030D-6E8A-4147-A177-3AD203B41FA5}">
                      <a16:colId xmlns:a16="http://schemas.microsoft.com/office/drawing/2014/main" val="1171289285"/>
                    </a:ext>
                  </a:extLst>
                </a:gridCol>
                <a:gridCol w="4799214">
                  <a:extLst>
                    <a:ext uri="{9D8B030D-6E8A-4147-A177-3AD203B41FA5}">
                      <a16:colId xmlns:a16="http://schemas.microsoft.com/office/drawing/2014/main" val="3178643292"/>
                    </a:ext>
                  </a:extLst>
                </a:gridCol>
              </a:tblGrid>
              <a:tr h="766675">
                <a:tc>
                  <a:txBody>
                    <a:bodyPr/>
                    <a:lstStyle/>
                    <a:p>
                      <a:endParaRPr lang="en-US" sz="2500" b="0" cap="none" spc="0">
                        <a:solidFill>
                          <a:schemeClr val="bg1"/>
                        </a:solidFill>
                      </a:endParaRPr>
                    </a:p>
                  </a:txBody>
                  <a:tcPr marL="210566" marR="161973" marT="161973" marB="161973" anchor="ctr">
                    <a:lnL w="19050" cap="flat" cmpd="sng" algn="ctr">
                      <a:noFill/>
                      <a:prstDash val="solid"/>
                    </a:lnL>
                    <a:lnR w="12700" cmpd="sng">
                      <a:noFill/>
                    </a:lnR>
                    <a:lnT w="19050" cap="flat" cmpd="sng" algn="ctr">
                      <a:noFill/>
                      <a:prstDash val="solid"/>
                    </a:lnT>
                    <a:lnB w="38100" cmpd="sng">
                      <a:noFill/>
                    </a:lnB>
                    <a:solidFill>
                      <a:schemeClr val="accent1"/>
                    </a:solidFill>
                  </a:tcPr>
                </a:tc>
                <a:tc>
                  <a:txBody>
                    <a:bodyPr/>
                    <a:lstStyle/>
                    <a:p>
                      <a:r>
                        <a:rPr lang="en-US" sz="2500" b="0" cap="none" spc="0" dirty="0">
                          <a:solidFill>
                            <a:schemeClr val="bg1"/>
                          </a:solidFill>
                        </a:rPr>
                        <a:t>Train</a:t>
                      </a:r>
                    </a:p>
                  </a:txBody>
                  <a:tcPr marL="210566" marR="161973" marT="161973" marB="161973" anchor="ctr">
                    <a:lnL w="12700" cmpd="sng">
                      <a:noFill/>
                    </a:lnL>
                    <a:lnR w="12700" cmpd="sng">
                      <a:noFill/>
                    </a:lnR>
                    <a:lnT w="19050" cap="flat" cmpd="sng" algn="ctr">
                      <a:noFill/>
                      <a:prstDash val="solid"/>
                    </a:lnT>
                    <a:lnB w="38100" cmpd="sng">
                      <a:noFill/>
                    </a:lnB>
                    <a:solidFill>
                      <a:schemeClr val="accent1"/>
                    </a:solidFill>
                  </a:tcPr>
                </a:tc>
                <a:tc>
                  <a:txBody>
                    <a:bodyPr/>
                    <a:lstStyle/>
                    <a:p>
                      <a:r>
                        <a:rPr lang="en-US" sz="2500" b="0" cap="none" spc="0">
                          <a:solidFill>
                            <a:schemeClr val="bg1"/>
                          </a:solidFill>
                        </a:rPr>
                        <a:t>Test</a:t>
                      </a:r>
                    </a:p>
                  </a:txBody>
                  <a:tcPr marL="210566" marR="161973" marT="161973" marB="161973" anchor="ctr">
                    <a:lnL w="12700" cmpd="sng">
                      <a:noFill/>
                    </a:lnL>
                    <a:lnR w="12700" cmpd="sng">
                      <a:noFill/>
                    </a:lnR>
                    <a:lnT w="19050" cap="flat" cmpd="sng" algn="ctr">
                      <a:noFill/>
                      <a:prstDash val="solid"/>
                    </a:lnT>
                    <a:lnB w="38100" cmpd="sng">
                      <a:noFill/>
                    </a:lnB>
                    <a:solidFill>
                      <a:schemeClr val="accent1"/>
                    </a:solidFill>
                  </a:tcPr>
                </a:tc>
                <a:extLst>
                  <a:ext uri="{0D108BD9-81ED-4DB2-BD59-A6C34878D82A}">
                    <a16:rowId xmlns:a16="http://schemas.microsoft.com/office/drawing/2014/main" val="1035545069"/>
                  </a:ext>
                </a:extLst>
              </a:tr>
              <a:tr h="766675">
                <a:tc>
                  <a:txBody>
                    <a:bodyPr/>
                    <a:lstStyle/>
                    <a:p>
                      <a:r>
                        <a:rPr lang="en-US" sz="2500" cap="none" spc="0" err="1">
                          <a:solidFill>
                            <a:schemeClr val="tx1"/>
                          </a:solidFill>
                        </a:rPr>
                        <a:t>rmse</a:t>
                      </a:r>
                      <a:endParaRPr lang="en-US" sz="2500" cap="none" spc="0">
                        <a:solidFill>
                          <a:schemeClr val="tx1"/>
                        </a:solidFill>
                      </a:endParaRPr>
                    </a:p>
                  </a:txBody>
                  <a:tcPr marL="210566" marR="161973" marT="161973" marB="161973">
                    <a:lnL w="38100" cap="flat" cmpd="sng" algn="ctr">
                      <a:noFill/>
                      <a:prstDash val="solid"/>
                    </a:lnL>
                    <a:lnR w="6350" cap="flat" cmpd="sng" algn="ctr">
                      <a:solidFill>
                        <a:schemeClr val="tx1">
                          <a:lumMod val="75000"/>
                          <a:lumOff val="25000"/>
                        </a:schemeClr>
                      </a:solidFill>
                      <a:prstDash val="solid"/>
                    </a:lnR>
                    <a:lnT w="38100" cmpd="sng">
                      <a:noFill/>
                    </a:lnT>
                    <a:lnB w="6350" cap="flat" cmpd="sng" algn="ctr">
                      <a:noFill/>
                      <a:prstDash val="solid"/>
                    </a:lnB>
                    <a:solidFill>
                      <a:srgbClr val="F2F2F2">
                        <a:alpha val="30196"/>
                      </a:srgbClr>
                    </a:solidFill>
                  </a:tcPr>
                </a:tc>
                <a:tc>
                  <a:txBody>
                    <a:bodyPr/>
                    <a:lstStyle/>
                    <a:p>
                      <a:r>
                        <a:rPr lang="en-US" sz="1800" b="0" i="0" kern="1200" dirty="0">
                          <a:solidFill>
                            <a:schemeClr val="dk1"/>
                          </a:solidFill>
                          <a:effectLst/>
                          <a:latin typeface="+mn-lt"/>
                          <a:ea typeface="+mn-ea"/>
                          <a:cs typeface="+mn-cs"/>
                        </a:rPr>
                        <a:t>2.275</a:t>
                      </a:r>
                      <a:endParaRPr lang="en-US" sz="2800" cap="none" spc="0" dirty="0">
                        <a:solidFill>
                          <a:schemeClr val="tx1"/>
                        </a:solidFill>
                      </a:endParaRPr>
                    </a:p>
                  </a:txBody>
                  <a:tcPr marL="210566" marR="161973" marT="161973" marB="161973">
                    <a:lnL w="6350" cap="flat" cmpd="sng" algn="ctr">
                      <a:solidFill>
                        <a:schemeClr val="tx1">
                          <a:lumMod val="75000"/>
                          <a:lumOff val="25000"/>
                        </a:schemeClr>
                      </a:solidFill>
                      <a:prstDash val="solid"/>
                    </a:lnL>
                    <a:lnR w="6350" cap="flat" cmpd="sng" algn="ctr">
                      <a:solidFill>
                        <a:schemeClr val="tx1">
                          <a:lumMod val="75000"/>
                          <a:lumOff val="25000"/>
                        </a:schemeClr>
                      </a:solidFill>
                      <a:prstDash val="solid"/>
                    </a:lnR>
                    <a:lnT w="38100" cmpd="sng">
                      <a:noFill/>
                    </a:lnT>
                    <a:lnB w="6350" cap="flat" cmpd="sng" algn="ctr">
                      <a:noFill/>
                      <a:prstDash val="solid"/>
                    </a:lnB>
                    <a:solidFill>
                      <a:srgbClr val="F2F2F2">
                        <a:alpha val="30196"/>
                      </a:srgbClr>
                    </a:solidFill>
                  </a:tcPr>
                </a:tc>
                <a:tc>
                  <a:txBody>
                    <a:bodyPr/>
                    <a:lstStyle/>
                    <a:p>
                      <a:r>
                        <a:rPr lang="en-US" sz="1800" b="0" i="0" kern="1200" dirty="0">
                          <a:solidFill>
                            <a:schemeClr val="dk1"/>
                          </a:solidFill>
                          <a:effectLst/>
                          <a:latin typeface="+mn-lt"/>
                          <a:ea typeface="+mn-ea"/>
                          <a:cs typeface="+mn-cs"/>
                        </a:rPr>
                        <a:t>2.988</a:t>
                      </a:r>
                      <a:endParaRPr lang="en-US" sz="2800" cap="none" spc="0" dirty="0">
                        <a:solidFill>
                          <a:schemeClr val="tx1"/>
                        </a:solidFill>
                      </a:endParaRPr>
                    </a:p>
                  </a:txBody>
                  <a:tcPr marL="210566" marR="161973" marT="161973" marB="161973">
                    <a:lnL w="6350" cap="flat" cmpd="sng" algn="ctr">
                      <a:solidFill>
                        <a:schemeClr val="tx1">
                          <a:lumMod val="75000"/>
                          <a:lumOff val="25000"/>
                        </a:schemeClr>
                      </a:solidFill>
                      <a:prstDash val="solid"/>
                    </a:lnL>
                    <a:lnR w="38100" cap="flat" cmpd="sng" algn="ctr">
                      <a:noFill/>
                      <a:prstDash val="solid"/>
                    </a:lnR>
                    <a:lnT w="38100" cmpd="sng">
                      <a:noFill/>
                    </a:lnT>
                    <a:lnB w="6350" cap="flat" cmpd="sng" algn="ctr">
                      <a:noFill/>
                      <a:prstDash val="solid"/>
                    </a:lnB>
                    <a:solidFill>
                      <a:srgbClr val="F2F2F2">
                        <a:alpha val="30196"/>
                      </a:srgbClr>
                    </a:solidFill>
                  </a:tcPr>
                </a:tc>
                <a:extLst>
                  <a:ext uri="{0D108BD9-81ED-4DB2-BD59-A6C34878D82A}">
                    <a16:rowId xmlns:a16="http://schemas.microsoft.com/office/drawing/2014/main" val="220561925"/>
                  </a:ext>
                </a:extLst>
              </a:tr>
              <a:tr h="766675">
                <a:tc>
                  <a:txBody>
                    <a:bodyPr/>
                    <a:lstStyle/>
                    <a:p>
                      <a:r>
                        <a:rPr lang="en-US" sz="2500" cap="none" spc="0">
                          <a:solidFill>
                            <a:schemeClr val="tx1"/>
                          </a:solidFill>
                        </a:rPr>
                        <a:t>std</a:t>
                      </a:r>
                    </a:p>
                  </a:txBody>
                  <a:tcPr marL="210566" marR="161973" marT="161973" marB="161973">
                    <a:lnL w="6350" cap="flat" cmpd="sng" algn="ctr">
                      <a:noFill/>
                      <a:prstDash val="solid"/>
                    </a:lnL>
                    <a:lnR w="6350" cap="flat" cmpd="sng" algn="ctr">
                      <a:noFill/>
                      <a:prstDash val="solid"/>
                    </a:lnR>
                    <a:lnT w="6350" cap="flat" cmpd="sng" algn="ctr">
                      <a:noFill/>
                      <a:prstDash val="solid"/>
                    </a:lnT>
                    <a:lnB w="12700" cmpd="sng">
                      <a:noFill/>
                      <a:prstDash val="solid"/>
                    </a:lnB>
                    <a:solidFill>
                      <a:schemeClr val="bg1">
                        <a:lumMod val="95000"/>
                      </a:schemeClr>
                    </a:solidFill>
                  </a:tcPr>
                </a:tc>
                <a:tc>
                  <a:txBody>
                    <a:bodyPr/>
                    <a:lstStyle/>
                    <a:p>
                      <a:r>
                        <a:rPr lang="en-US" sz="1800" b="0" i="0" kern="1200" dirty="0">
                          <a:solidFill>
                            <a:schemeClr val="dk1"/>
                          </a:solidFill>
                          <a:effectLst/>
                          <a:latin typeface="+mn-lt"/>
                          <a:ea typeface="+mn-ea"/>
                          <a:cs typeface="+mn-cs"/>
                        </a:rPr>
                        <a:t>4.186</a:t>
                      </a:r>
                      <a:endParaRPr lang="en-US" sz="2800" cap="none" spc="0" dirty="0">
                        <a:solidFill>
                          <a:schemeClr val="tx1"/>
                        </a:solidFill>
                      </a:endParaRPr>
                    </a:p>
                  </a:txBody>
                  <a:tcPr marL="210566" marR="161973" marT="161973" marB="161973">
                    <a:lnL w="6350" cap="flat" cmpd="sng" algn="ctr">
                      <a:noFill/>
                      <a:prstDash val="solid"/>
                    </a:lnL>
                    <a:lnR w="6350" cap="flat" cmpd="sng" algn="ctr">
                      <a:noFill/>
                      <a:prstDash val="solid"/>
                    </a:lnR>
                    <a:lnT w="6350" cap="flat" cmpd="sng" algn="ctr">
                      <a:noFill/>
                      <a:prstDash val="solid"/>
                    </a:lnT>
                    <a:lnB w="12700" cmpd="sng">
                      <a:noFill/>
                      <a:prstDash val="solid"/>
                    </a:lnB>
                    <a:solidFill>
                      <a:schemeClr val="bg1">
                        <a:lumMod val="95000"/>
                      </a:schemeClr>
                    </a:solidFill>
                  </a:tcPr>
                </a:tc>
                <a:tc>
                  <a:txBody>
                    <a:bodyPr/>
                    <a:lstStyle/>
                    <a:p>
                      <a:r>
                        <a:rPr lang="en-US" sz="1800" b="0" i="0" kern="1200" dirty="0">
                          <a:solidFill>
                            <a:schemeClr val="dk1"/>
                          </a:solidFill>
                          <a:effectLst/>
                          <a:latin typeface="+mn-lt"/>
                          <a:ea typeface="+mn-ea"/>
                          <a:cs typeface="+mn-cs"/>
                        </a:rPr>
                        <a:t>4.172</a:t>
                      </a:r>
                      <a:endParaRPr lang="en-US" sz="2800" cap="none" spc="0" dirty="0">
                        <a:solidFill>
                          <a:schemeClr val="tx1"/>
                        </a:solidFill>
                      </a:endParaRPr>
                    </a:p>
                  </a:txBody>
                  <a:tcPr marL="210566" marR="161973" marT="161973" marB="161973">
                    <a:lnL w="6350" cap="flat" cmpd="sng" algn="ctr">
                      <a:noFill/>
                      <a:prstDash val="solid"/>
                    </a:lnL>
                    <a:lnR w="12700" cmpd="sng">
                      <a:noFill/>
                      <a:prstDash val="solid"/>
                    </a:lnR>
                    <a:lnT w="6350" cap="flat" cmpd="sng" algn="ctr">
                      <a:noFill/>
                      <a:prstDash val="solid"/>
                    </a:lnT>
                    <a:lnB w="12700" cmpd="sng">
                      <a:noFill/>
                      <a:prstDash val="solid"/>
                    </a:lnB>
                    <a:solidFill>
                      <a:schemeClr val="bg1">
                        <a:lumMod val="95000"/>
                      </a:schemeClr>
                    </a:solidFill>
                  </a:tcPr>
                </a:tc>
                <a:extLst>
                  <a:ext uri="{0D108BD9-81ED-4DB2-BD59-A6C34878D82A}">
                    <a16:rowId xmlns:a16="http://schemas.microsoft.com/office/drawing/2014/main" val="3068550116"/>
                  </a:ext>
                </a:extLst>
              </a:tr>
              <a:tr h="766675">
                <a:tc>
                  <a:txBody>
                    <a:bodyPr/>
                    <a:lstStyle/>
                    <a:p>
                      <a:r>
                        <a:rPr lang="en-US" sz="2500" cap="none" spc="0">
                          <a:solidFill>
                            <a:schemeClr val="tx1"/>
                          </a:solidFill>
                        </a:rPr>
                        <a:t>r2</a:t>
                      </a:r>
                    </a:p>
                  </a:txBody>
                  <a:tcPr marL="210566" marR="161973" marT="161973" marB="161973">
                    <a:lnL w="38100" cap="flat" cmpd="sng" algn="ctr">
                      <a:noFill/>
                      <a:prstDash val="solid"/>
                    </a:lnL>
                    <a:lnR w="6350" cap="flat" cmpd="sng" algn="ctr">
                      <a:solidFill>
                        <a:schemeClr val="tx1">
                          <a:lumMod val="75000"/>
                          <a:lumOff val="25000"/>
                        </a:schemeClr>
                      </a:solidFill>
                      <a:prstDash val="solid"/>
                    </a:lnR>
                    <a:lnT w="12700" cmpd="sng">
                      <a:noFill/>
                      <a:prstDash val="solid"/>
                    </a:lnT>
                    <a:lnB w="38100" cap="flat" cmpd="sng" algn="ctr">
                      <a:noFill/>
                      <a:prstDash val="solid"/>
                    </a:lnB>
                    <a:solidFill>
                      <a:srgbClr val="F2F2F2">
                        <a:alpha val="30196"/>
                      </a:srgbClr>
                    </a:solidFill>
                  </a:tcPr>
                </a:tc>
                <a:tc>
                  <a:txBody>
                    <a:bodyPr/>
                    <a:lstStyle/>
                    <a:p>
                      <a:r>
                        <a:rPr lang="en-US" sz="1800" b="0" i="0" kern="1200" dirty="0">
                          <a:solidFill>
                            <a:schemeClr val="dk1"/>
                          </a:solidFill>
                          <a:effectLst/>
                          <a:latin typeface="+mn-lt"/>
                          <a:ea typeface="+mn-ea"/>
                          <a:cs typeface="+mn-cs"/>
                        </a:rPr>
                        <a:t>0.704</a:t>
                      </a:r>
                      <a:endParaRPr lang="en-US" sz="2800" cap="none" spc="0" dirty="0">
                        <a:solidFill>
                          <a:schemeClr val="tx1"/>
                        </a:solidFill>
                      </a:endParaRPr>
                    </a:p>
                  </a:txBody>
                  <a:tcPr marL="210566" marR="161973" marT="161973" marB="161973">
                    <a:lnL w="6350" cap="flat" cmpd="sng" algn="ctr">
                      <a:solidFill>
                        <a:schemeClr val="tx1">
                          <a:lumMod val="75000"/>
                          <a:lumOff val="25000"/>
                        </a:schemeClr>
                      </a:solidFill>
                      <a:prstDash val="solid"/>
                    </a:lnL>
                    <a:lnR w="6350" cap="flat" cmpd="sng" algn="ctr">
                      <a:solidFill>
                        <a:schemeClr val="tx1">
                          <a:lumMod val="75000"/>
                          <a:lumOff val="25000"/>
                        </a:schemeClr>
                      </a:solidFill>
                      <a:prstDash val="solid"/>
                    </a:lnR>
                    <a:lnT w="12700" cmpd="sng">
                      <a:noFill/>
                      <a:prstDash val="solid"/>
                    </a:lnT>
                    <a:lnB w="38100" cap="flat" cmpd="sng" algn="ctr">
                      <a:noFill/>
                      <a:prstDash val="solid"/>
                    </a:lnB>
                    <a:solidFill>
                      <a:srgbClr val="F2F2F2">
                        <a:alpha val="30196"/>
                      </a:srgbClr>
                    </a:solidFill>
                  </a:tcPr>
                </a:tc>
                <a:tc>
                  <a:txBody>
                    <a:bodyPr/>
                    <a:lstStyle/>
                    <a:p>
                      <a:r>
                        <a:rPr lang="en-US" sz="1800" b="0" i="0" kern="1200" dirty="0">
                          <a:solidFill>
                            <a:schemeClr val="dk1"/>
                          </a:solidFill>
                          <a:effectLst/>
                          <a:latin typeface="+mn-lt"/>
                          <a:ea typeface="+mn-ea"/>
                          <a:cs typeface="+mn-cs"/>
                        </a:rPr>
                        <a:t>0.486</a:t>
                      </a:r>
                      <a:endParaRPr lang="en-US" sz="2800" cap="none" spc="0" dirty="0">
                        <a:solidFill>
                          <a:schemeClr val="tx1"/>
                        </a:solidFill>
                      </a:endParaRPr>
                    </a:p>
                  </a:txBody>
                  <a:tcPr marL="210566" marR="161973" marT="161973" marB="161973">
                    <a:lnL w="6350" cap="flat" cmpd="sng" algn="ctr">
                      <a:solidFill>
                        <a:schemeClr val="tx1">
                          <a:lumMod val="75000"/>
                          <a:lumOff val="25000"/>
                        </a:schemeClr>
                      </a:solidFill>
                      <a:prstDash val="solid"/>
                    </a:lnL>
                    <a:lnR w="38100" cap="flat" cmpd="sng" algn="ctr">
                      <a:noFill/>
                      <a:prstDash val="solid"/>
                    </a:lnR>
                    <a:lnT w="12700" cmpd="sng">
                      <a:noFill/>
                      <a:prstDash val="solid"/>
                    </a:lnT>
                    <a:lnB w="38100" cap="flat" cmpd="sng" algn="ctr">
                      <a:noFill/>
                      <a:prstDash val="solid"/>
                    </a:lnB>
                    <a:solidFill>
                      <a:srgbClr val="F2F2F2">
                        <a:alpha val="30196"/>
                      </a:srgbClr>
                    </a:solidFill>
                  </a:tcPr>
                </a:tc>
                <a:extLst>
                  <a:ext uri="{0D108BD9-81ED-4DB2-BD59-A6C34878D82A}">
                    <a16:rowId xmlns:a16="http://schemas.microsoft.com/office/drawing/2014/main" val="1022304556"/>
                  </a:ext>
                </a:extLst>
              </a:tr>
            </a:tbl>
          </a:graphicData>
        </a:graphic>
      </p:graphicFrame>
    </p:spTree>
    <p:extLst>
      <p:ext uri="{BB962C8B-B14F-4D97-AF65-F5344CB8AC3E}">
        <p14:creationId xmlns:p14="http://schemas.microsoft.com/office/powerpoint/2010/main" val="184047092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11D395-FA6C-11E3-EDF7-C55A253A74C9}"/>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a:solidFill>
                  <a:schemeClr val="tx1"/>
                </a:solidFill>
                <a:latin typeface="+mj-lt"/>
                <a:ea typeface="+mj-ea"/>
                <a:cs typeface="+mj-cs"/>
              </a:rPr>
              <a:t>Random Forests</a:t>
            </a:r>
          </a:p>
        </p:txBody>
      </p:sp>
      <p:pic>
        <p:nvPicPr>
          <p:cNvPr id="5" name="Picture 4">
            <a:extLst>
              <a:ext uri="{FF2B5EF4-FFF2-40B4-BE49-F238E27FC236}">
                <a16:creationId xmlns:a16="http://schemas.microsoft.com/office/drawing/2014/main" id="{878D5192-5D62-ED05-BB43-13B7B586BCC8}"/>
              </a:ext>
            </a:extLst>
          </p:cNvPr>
          <p:cNvPicPr>
            <a:picLocks noChangeAspect="1"/>
          </p:cNvPicPr>
          <p:nvPr/>
        </p:nvPicPr>
        <p:blipFill>
          <a:blip r:embed="rId2"/>
          <a:stretch>
            <a:fillRect/>
          </a:stretch>
        </p:blipFill>
        <p:spPr>
          <a:xfrm>
            <a:off x="1710690" y="1666970"/>
            <a:ext cx="8416290" cy="4818202"/>
          </a:xfrm>
          <a:prstGeom prst="rect">
            <a:avLst/>
          </a:prstGeom>
        </p:spPr>
      </p:pic>
    </p:spTree>
    <p:extLst>
      <p:ext uri="{BB962C8B-B14F-4D97-AF65-F5344CB8AC3E}">
        <p14:creationId xmlns:p14="http://schemas.microsoft.com/office/powerpoint/2010/main" val="378435992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11D395-FA6C-11E3-EDF7-C55A253A74C9}"/>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a:solidFill>
                  <a:schemeClr val="tx1"/>
                </a:solidFill>
                <a:latin typeface="+mj-lt"/>
                <a:ea typeface="+mj-ea"/>
                <a:cs typeface="+mj-cs"/>
              </a:rPr>
              <a:t>Random Forests</a:t>
            </a:r>
          </a:p>
        </p:txBody>
      </p:sp>
      <p:pic>
        <p:nvPicPr>
          <p:cNvPr id="4" name="Picture 3">
            <a:extLst>
              <a:ext uri="{FF2B5EF4-FFF2-40B4-BE49-F238E27FC236}">
                <a16:creationId xmlns:a16="http://schemas.microsoft.com/office/drawing/2014/main" id="{52EEF50B-5A08-0D37-3993-DD0E79DA8F6E}"/>
              </a:ext>
            </a:extLst>
          </p:cNvPr>
          <p:cNvPicPr>
            <a:picLocks noChangeAspect="1"/>
          </p:cNvPicPr>
          <p:nvPr/>
        </p:nvPicPr>
        <p:blipFill>
          <a:blip r:embed="rId2"/>
          <a:stretch>
            <a:fillRect/>
          </a:stretch>
        </p:blipFill>
        <p:spPr>
          <a:xfrm>
            <a:off x="1824990" y="1666970"/>
            <a:ext cx="8542020" cy="5086821"/>
          </a:xfrm>
          <a:prstGeom prst="rect">
            <a:avLst/>
          </a:prstGeom>
        </p:spPr>
      </p:pic>
    </p:spTree>
    <p:extLst>
      <p:ext uri="{BB962C8B-B14F-4D97-AF65-F5344CB8AC3E}">
        <p14:creationId xmlns:p14="http://schemas.microsoft.com/office/powerpoint/2010/main" val="35218146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5835</TotalTime>
  <Words>259</Words>
  <Application>Microsoft Office PowerPoint</Application>
  <PresentationFormat>Widescreen</PresentationFormat>
  <Paragraphs>66</Paragraphs>
  <Slides>21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Arial</vt:lpstr>
      <vt:lpstr>Calibri</vt:lpstr>
      <vt:lpstr>Calibri Light</vt:lpstr>
      <vt:lpstr>Office Theme</vt:lpstr>
      <vt:lpstr>Statistics</vt:lpstr>
      <vt:lpstr>% of the coasts that are clean over 70% of the time </vt:lpstr>
      <vt:lpstr>Models Summary  All model's data were taken from years 2016 and onwards. Additionally, Eilat coasts have been excluded from the dataset.</vt:lpstr>
      <vt:lpstr>Linear Regression</vt:lpstr>
      <vt:lpstr>MLR – summer model</vt:lpstr>
      <vt:lpstr>MLR (with feature selection)</vt:lpstr>
      <vt:lpstr>MLR (with feature selection)</vt:lpstr>
      <vt:lpstr>MLR Coefficients</vt:lpstr>
      <vt:lpstr>MLR – winter model</vt:lpstr>
      <vt:lpstr>MLR (with feature selection)</vt:lpstr>
      <vt:lpstr>MLR (with feature selection)</vt:lpstr>
      <vt:lpstr>MLR Coefficients</vt:lpstr>
      <vt:lpstr>Random Forests   To interpret the direction of the features, the following method was employed: For each feature, two models were generated—one with the feature included and one without. The mean prediction was then calculated for each model. Subsequently, the direction of the feature was determined by subtracting the mean prediction with the feature from the mean prediction without it. If this result yielded a positive number, it signified that the feature positively influenced the target compared to when it was absent.</vt:lpstr>
      <vt:lpstr>Random Forests – winter model</vt:lpstr>
      <vt:lpstr>Random Forests</vt:lpstr>
      <vt:lpstr>Random Forests</vt:lpstr>
      <vt:lpstr>Random Forests</vt:lpstr>
      <vt:lpstr>Random Forests – summer model</vt:lpstr>
      <vt:lpstr>Random Forests</vt:lpstr>
      <vt:lpstr>Random Forests</vt:lpstr>
      <vt:lpstr>Random Forests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Models Summary</dc:title>
  <dc:creator>ליאב כהן</dc:creator>
  <cp:lastModifiedBy>ליאב כהן</cp:lastModifiedBy>
  <cp:revision>44</cp:revision>
  <dcterms:created xsi:type="dcterms:W3CDTF">2023-12-04T13:37:48Z</dcterms:created>
  <dcterms:modified xsi:type="dcterms:W3CDTF">2024-01-28T15:41:14Z</dcterms:modified>
</cp:coreProperties>
</file>