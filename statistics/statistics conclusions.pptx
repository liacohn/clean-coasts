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2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6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86A3-9E51-51BC-94B7-B40EE995C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69820-EBF0-EEB9-7566-EAA0128CD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DE0D4-24E4-72CA-16CD-45DFDC9CF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BEA98-A762-49BF-A7D9-0455529DE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3301D-3C66-7693-8274-BEE864B7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851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791E-9A5D-821B-C5A4-D97197A1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0ACC3-F45A-7D80-ABF3-A81E7042F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256B7-0268-B4C0-E699-5F18F6860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BDEA4-034F-B94F-1B75-687609B4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0237-9A2F-0372-E858-52B16FAD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254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AEE6F-9FE3-70B3-BE22-DB78B26F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70469-005A-BA18-0EF7-09793ABB5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9A73E-87AB-E5A3-EB25-E810BBBC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12B39-4733-C980-B80A-C3CDAE49C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C8911-E885-D3EF-8FB7-7153DAA05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22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30143-BCF8-C120-A838-2184FC1D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360E2-18A1-EC76-CA75-B76EE4B15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700371-DCD9-9380-CD29-88E041140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B021-6036-E8AD-11F6-98BFEC5F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515B2-9C6C-0EB5-C66A-8F9BE63F7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9BB62-DB1F-95FA-7D5B-C85AC767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0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DCC8-932F-903D-93A4-39084237C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74804-91D4-D1F8-E9B4-B1C69A653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36CBE-3D1F-9890-436B-B9DE9B38C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0BF76-78D6-F5CD-905D-25FE7D29E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F14A73-836A-BE65-8ABF-22B1038561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A91E8F-CE33-E2BB-1DC8-7124AF2F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8C164-86AD-8ADB-7D71-FC672430E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C52972-2376-6EC2-9DC2-78C58B0E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24C76-FD0A-A7CB-32CF-C58BA1B3C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07B5B-8923-3A9E-5949-20AEDF9E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CECAA-A0B2-7059-D5F6-C2954079C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CE2AB-E703-80F2-2C71-B5CE9B993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6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DC09B5-350F-6D6B-3124-3651A6588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F2A4E-2861-5B6A-A3F7-47E786BD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C800E-81B4-AB1A-D0B3-2DDACA94F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02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A9558-92D9-7643-382C-635E7B081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4BD81-0537-E692-F9BD-E7E5527A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8DBB5-31E1-8AE0-C6FD-570BC406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2735A-2B13-48BB-7781-8B34AE64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64E2C-FD6E-333E-FCFE-B8618F2D4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14F28-55CE-D7AB-77E3-05306897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38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05FF-B735-E561-4664-5F70D23B8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CDACF4-03FC-6790-D776-1FEC85301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9E3B6-9F92-F958-4B70-90A0547E0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68ACD5-5DDE-ECD1-7853-17AA77DB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2D7567-F5DE-09CF-E647-28CBF050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93880-7A74-E4CF-8721-3C6252F24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3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4E8A9-DC13-E8C9-2BF3-5952294F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2CDFC-7517-875C-E5D7-2B4AE8D4D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6384B-20DA-D531-69B2-A15878D35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04813-CB76-43D3-755B-C77CB7D2C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AD2B7-9EBF-11FE-5694-6B029A0C9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84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59A5DD-6059-36E0-8858-E802B0A0E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65D5F6-A709-541B-6C07-867F21C70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F71A-273F-8604-2D71-C2F29B93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ADCB2-E6AD-8822-22DE-FF3435C2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39D3E-C4E9-D36B-6DD4-C1087077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4CBB0-9D5B-5339-DEF6-31E08B808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2B528-B2E9-89A1-35AE-1D4B2BB21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6062B-88A6-DEA9-ADE9-3922DB97E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0F7D5-8CA1-4183-AAB7-9CF1CE1D8590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BC00-5CAA-A734-FDBD-FB54EE825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2F024-3069-010C-C97F-88033C870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45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559" y="637762"/>
            <a:ext cx="2899568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4100">
                <a:solidFill>
                  <a:schemeClr val="bg1"/>
                </a:solidFill>
              </a:rPr>
              <a:t>Correlations</a:t>
            </a:r>
            <a:br>
              <a:rPr lang="en-US" sz="4100">
                <a:solidFill>
                  <a:schemeClr val="bg1"/>
                </a:solidFill>
              </a:rPr>
            </a:br>
            <a:endParaRPr lang="en-US" sz="410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594420-7BE3-570F-B47F-FD950FF306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4775" y="637762"/>
            <a:ext cx="5600580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2000" dirty="0">
                <a:latin typeface="Calibri (Body)"/>
              </a:rPr>
              <a:t>Spearman correlation was used on 4 target columns </a:t>
            </a:r>
            <a:r>
              <a:rPr lang="en-US" sz="2000" b="0" dirty="0">
                <a:effectLst/>
                <a:latin typeface="Calibri (Body)"/>
              </a:rPr>
              <a:t>'city </a:t>
            </a:r>
            <a:r>
              <a:rPr lang="en-US" sz="2000" b="0" dirty="0" err="1">
                <a:effectLst/>
                <a:latin typeface="Calibri (Body)"/>
              </a:rPr>
              <a:t>rank','Distance</a:t>
            </a:r>
            <a:r>
              <a:rPr lang="en-US" sz="2000" b="0" dirty="0">
                <a:effectLst/>
                <a:latin typeface="Calibri (Body)"/>
              </a:rPr>
              <a:t> from </a:t>
            </a:r>
            <a:r>
              <a:rPr lang="en-US" sz="2000" b="0" dirty="0" err="1">
                <a:effectLst/>
                <a:latin typeface="Calibri (Body)"/>
              </a:rPr>
              <a:t>gaza</a:t>
            </a:r>
            <a:r>
              <a:rPr lang="en-US" sz="2000" b="0" dirty="0">
                <a:effectLst/>
                <a:latin typeface="Calibri (Body)"/>
              </a:rPr>
              <a:t>','</a:t>
            </a:r>
            <a:r>
              <a:rPr lang="en-US" sz="2000" b="0" dirty="0" err="1">
                <a:effectLst/>
                <a:latin typeface="Calibri (Body)"/>
              </a:rPr>
              <a:t>hifa_port_dis</a:t>
            </a:r>
            <a:r>
              <a:rPr lang="en-US" sz="2000" b="0" dirty="0">
                <a:effectLst/>
                <a:latin typeface="Calibri (Body)"/>
              </a:rPr>
              <a:t>’ and ‘</a:t>
            </a:r>
            <a:r>
              <a:rPr lang="en-US" sz="2000" b="0" dirty="0" err="1">
                <a:effectLst/>
                <a:latin typeface="Calibri (Body)"/>
              </a:rPr>
              <a:t>distance_to_ashdod_port</a:t>
            </a:r>
            <a:r>
              <a:rPr lang="en-US" sz="2000" b="0" dirty="0">
                <a:effectLst/>
                <a:latin typeface="Calibri (Body)"/>
              </a:rPr>
              <a:t> ’ . </a:t>
            </a:r>
          </a:p>
          <a:p>
            <a:pPr algn="l"/>
            <a:r>
              <a:rPr lang="en-US" sz="2000" b="0" dirty="0">
                <a:effectLst/>
                <a:latin typeface="Calibri (Body)"/>
              </a:rPr>
              <a:t>The data was taken from 2016 onwards, and Eilat's beaches were also removed.</a:t>
            </a:r>
          </a:p>
          <a:p>
            <a:pPr algn="l"/>
            <a:r>
              <a:rPr lang="en-US" sz="2000" b="0" dirty="0">
                <a:effectLst/>
                <a:latin typeface="Calibri (Body)"/>
              </a:rPr>
              <a:t>All </a:t>
            </a:r>
            <a:r>
              <a:rPr lang="en-US" sz="2000" dirty="0">
                <a:latin typeface="Calibri (Body)"/>
              </a:rPr>
              <a:t>4</a:t>
            </a:r>
            <a:r>
              <a:rPr lang="en-US" sz="2000" b="0" dirty="0">
                <a:effectLst/>
                <a:latin typeface="Calibri (Body)"/>
              </a:rPr>
              <a:t> tests outputs gave a p-value of 0 (rounded </a:t>
            </a:r>
            <a:r>
              <a:rPr lang="en-US" sz="2000" dirty="0">
                <a:latin typeface="Calibri (Body)"/>
              </a:rPr>
              <a:t>up to the 5th decimal point</a:t>
            </a:r>
            <a:r>
              <a:rPr lang="en-US" sz="2000" b="0" dirty="0">
                <a:effectLst/>
                <a:latin typeface="Calibri (Body)"/>
              </a:rPr>
              <a:t>).</a:t>
            </a:r>
          </a:p>
          <a:p>
            <a:pPr algn="l"/>
            <a:r>
              <a:rPr lang="en-US" sz="2000" dirty="0">
                <a:latin typeface="Calibri (Body)"/>
              </a:rPr>
              <a:t>Corresponding rho’s: -0.044, 0.077, -0.135, 0.11. </a:t>
            </a:r>
            <a:endParaRPr lang="en-US" sz="2000" b="0" dirty="0"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173607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559" y="637762"/>
            <a:ext cx="2899568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4100">
                <a:solidFill>
                  <a:schemeClr val="bg1"/>
                </a:solidFill>
              </a:rPr>
              <a:t>Correlations</a:t>
            </a:r>
            <a:br>
              <a:rPr lang="en-US" sz="4100">
                <a:solidFill>
                  <a:schemeClr val="bg1"/>
                </a:solidFill>
              </a:rPr>
            </a:br>
            <a:endParaRPr lang="en-US" sz="410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225014-9CC0-14D3-17C5-F28D70D05259}"/>
              </a:ext>
            </a:extLst>
          </p:cNvPr>
          <p:cNvSpPr txBox="1"/>
          <p:nvPr/>
        </p:nvSpPr>
        <p:spPr>
          <a:xfrm>
            <a:off x="5530645" y="1047135"/>
            <a:ext cx="523567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Further correlations were tested whilst taking into consideration the date time, each time in a different scenario: </a:t>
            </a:r>
            <a:r>
              <a:rPr lang="en-US" sz="2000" b="1" dirty="0"/>
              <a:t>winter-time </a:t>
            </a:r>
            <a:r>
              <a:rPr lang="en-US" sz="2000" dirty="0"/>
              <a:t>and </a:t>
            </a:r>
            <a:r>
              <a:rPr lang="en-US" sz="2000" b="1" dirty="0"/>
              <a:t>summer</a:t>
            </a:r>
            <a:r>
              <a:rPr lang="en-US" sz="2000" dirty="0"/>
              <a:t> </a:t>
            </a:r>
            <a:r>
              <a:rPr lang="en-US" sz="2000" b="1" dirty="0"/>
              <a:t>vacation</a:t>
            </a:r>
            <a:r>
              <a:rPr lang="en-US" sz="2000" dirty="0"/>
              <a:t>.</a:t>
            </a:r>
          </a:p>
          <a:p>
            <a:r>
              <a:rPr lang="en-US" sz="2000" dirty="0"/>
              <a:t>Once again, the data was taken from years 2016 and above. Here Eilat’s coasts were separated from the rest, so the correlation were checked twice.</a:t>
            </a:r>
          </a:p>
          <a:p>
            <a:endParaRPr lang="en-US" sz="2000" dirty="0"/>
          </a:p>
          <a:p>
            <a:r>
              <a:rPr lang="en-US" sz="2000" dirty="0"/>
              <a:t> </a:t>
            </a:r>
          </a:p>
          <a:p>
            <a:r>
              <a:rPr lang="en-US" sz="2000" dirty="0"/>
              <a:t>All tests resulted in a p-value of approximately 0 in both cases.</a:t>
            </a:r>
          </a:p>
          <a:p>
            <a:endParaRPr lang="en-US" sz="2000" dirty="0"/>
          </a:p>
          <a:p>
            <a:r>
              <a:rPr lang="en-US" sz="2000" dirty="0"/>
              <a:t>Corresponding rho’s:</a:t>
            </a:r>
          </a:p>
          <a:p>
            <a:r>
              <a:rPr lang="en-US" sz="2000" dirty="0"/>
              <a:t>General coasts: -0.199, -0.193</a:t>
            </a:r>
          </a:p>
          <a:p>
            <a:r>
              <a:rPr lang="en-US" sz="2000" dirty="0"/>
              <a:t>Eilat coasts: 0.551, -0.011</a:t>
            </a:r>
          </a:p>
        </p:txBody>
      </p:sp>
    </p:spTree>
    <p:extLst>
      <p:ext uri="{BB962C8B-B14F-4D97-AF65-F5344CB8AC3E}">
        <p14:creationId xmlns:p14="http://schemas.microsoft.com/office/powerpoint/2010/main" val="167273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12191990" cy="30185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90E84-1F12-E20E-DFA8-9561053E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2138263"/>
          </a:xfrm>
        </p:spPr>
        <p:txBody>
          <a:bodyPr anchor="b">
            <a:norm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two sided tests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18502"/>
            <a:ext cx="12191990" cy="3885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3341147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25963-A298-CB74-AB96-416776BF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9" y="3551567"/>
            <a:ext cx="9889802" cy="26629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Since the data was proven to be not normally distributed, a two-sided Wilcoxson test was used.</a:t>
            </a:r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51300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184" y="174032"/>
            <a:ext cx="10175631" cy="1111843"/>
          </a:xfrm>
        </p:spPr>
        <p:txBody>
          <a:bodyPr anchor="ctr">
            <a:normAutofit/>
          </a:bodyPr>
          <a:lstStyle/>
          <a:p>
            <a:pPr algn="ctr"/>
            <a:r>
              <a:rPr lang="en-US" sz="400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82CAD-7626-24C9-8F32-2E374E7E4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8184" y="1459907"/>
            <a:ext cx="10175630" cy="767904"/>
          </a:xfrm>
        </p:spPr>
        <p:txBody>
          <a:bodyPr anchor="ctr">
            <a:normAutofit/>
          </a:bodyPr>
          <a:lstStyle/>
          <a:p>
            <a:pPr algn="ctr"/>
            <a:r>
              <a:rPr lang="en-US" sz="2000" dirty="0"/>
              <a:t> key columns were tested against the target, such as ‘bathing season’ , winter’ ,‘military’.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CDFBB7-742B-7A27-1D78-F7CD530B9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661392"/>
              </p:ext>
            </p:extLst>
          </p:nvPr>
        </p:nvGraphicFramePr>
        <p:xfrm>
          <a:off x="1702343" y="2405149"/>
          <a:ext cx="8781218" cy="3899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153">
                  <a:extLst>
                    <a:ext uri="{9D8B030D-6E8A-4147-A177-3AD203B41FA5}">
                      <a16:colId xmlns:a16="http://schemas.microsoft.com/office/drawing/2014/main" val="117742938"/>
                    </a:ext>
                  </a:extLst>
                </a:gridCol>
                <a:gridCol w="2713694">
                  <a:extLst>
                    <a:ext uri="{9D8B030D-6E8A-4147-A177-3AD203B41FA5}">
                      <a16:colId xmlns:a16="http://schemas.microsoft.com/office/drawing/2014/main" val="3107128215"/>
                    </a:ext>
                  </a:extLst>
                </a:gridCol>
                <a:gridCol w="3065434">
                  <a:extLst>
                    <a:ext uri="{9D8B030D-6E8A-4147-A177-3AD203B41FA5}">
                      <a16:colId xmlns:a16="http://schemas.microsoft.com/office/drawing/2014/main" val="4113882395"/>
                    </a:ext>
                  </a:extLst>
                </a:gridCol>
                <a:gridCol w="1199937">
                  <a:extLst>
                    <a:ext uri="{9D8B030D-6E8A-4147-A177-3AD203B41FA5}">
                      <a16:colId xmlns:a16="http://schemas.microsoft.com/office/drawing/2014/main" val="3017124678"/>
                    </a:ext>
                  </a:extLst>
                </a:gridCol>
              </a:tblGrid>
              <a:tr h="305291">
                <a:tc>
                  <a:txBody>
                    <a:bodyPr/>
                    <a:lstStyle/>
                    <a:p>
                      <a:r>
                        <a:rPr lang="en-US" sz="1400"/>
                        <a:t>Feature name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Positive group values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negative group values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P-value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1689127960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Bathing_season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Std:36.46,mean:5.371,median:3.67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Std:50482.51,mean:513.31,median:3.56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0.003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1912636426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Summer_vacation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std=63.713, mean=6.031, median=3.7100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std=34823.307, mean=246.905, median=3.6000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0.01080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4005027623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Nature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std=5.139, mean=4.544, median=3.0000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std=33781.953, mean=232.975, median=3.7500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2785538023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river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std=5.251, mean=5.584, median=4.2500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std=35015.527, mean=249.688, median=3.4700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1551906913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Military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std=3.028, mean=3.607, median=2.7500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std=31327.242, mean=200.994, median=3.6300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3571542833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winter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std=65358.400, mean=857.135, median=3.7500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std=32.774, mean=5.265, median=3.6000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0.13348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427390498"/>
                  </a:ext>
                </a:extLst>
              </a:tr>
              <a:tr h="513444">
                <a:tc>
                  <a:txBody>
                    <a:bodyPr/>
                    <a:lstStyle/>
                    <a:p>
                      <a:r>
                        <a:rPr lang="en-US" sz="1400"/>
                        <a:t>Have_rained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std=57842.500, mean=672.459, median=3.7300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/>
                        <a:t>std=34.166, mean=5.273, median=3.5900</a:t>
                      </a:r>
                    </a:p>
                  </a:txBody>
                  <a:tcPr marL="69384" marR="69384" marT="34692" marB="34692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0.00550</a:t>
                      </a:r>
                    </a:p>
                  </a:txBody>
                  <a:tcPr marL="69384" marR="69384" marT="34692" marB="34692"/>
                </a:tc>
                <a:extLst>
                  <a:ext uri="{0D108BD9-81ED-4DB2-BD59-A6C34878D82A}">
                    <a16:rowId xmlns:a16="http://schemas.microsoft.com/office/drawing/2014/main" val="2041575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962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E7E10-04EB-9572-054C-5191252766FC}"/>
              </a:ext>
            </a:extLst>
          </p:cNvPr>
          <p:cNvSpPr txBox="1"/>
          <p:nvPr/>
        </p:nvSpPr>
        <p:spPr>
          <a:xfrm>
            <a:off x="752168" y="2147442"/>
            <a:ext cx="90407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Another test compared the different areas.</a:t>
            </a:r>
          </a:p>
          <a:p>
            <a:endParaRPr lang="en-US" sz="1800" dirty="0"/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North: std=46754.653, mean=441.484, median=3.9100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Center: std=4.424, mean=4.348, median=3.3100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Eilat: std=5.336, mean=3.444, median=2.0000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South: std=63.881, mean=6.666, median=4.0900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 test , expect the North vs South beaches have shown statistical significance, with p-values of approximately 0.</a:t>
            </a:r>
          </a:p>
        </p:txBody>
      </p:sp>
    </p:spTree>
    <p:extLst>
      <p:ext uri="{BB962C8B-B14F-4D97-AF65-F5344CB8AC3E}">
        <p14:creationId xmlns:p14="http://schemas.microsoft.com/office/powerpoint/2010/main" val="3472700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5348</TotalTime>
  <Words>473</Words>
  <Application>Microsoft Office PowerPoint</Application>
  <PresentationFormat>Widescreen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(Body)</vt:lpstr>
      <vt:lpstr>Calibri Light</vt:lpstr>
      <vt:lpstr>Consolas</vt:lpstr>
      <vt:lpstr>Office Theme</vt:lpstr>
      <vt:lpstr>Correlations </vt:lpstr>
      <vt:lpstr>Correlations </vt:lpstr>
      <vt:lpstr>two sided tests</vt:lpstr>
      <vt:lpstr>Results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Correlations </dc:title>
  <dc:creator>ליאב כהן</dc:creator>
  <cp:lastModifiedBy>ליאב כהן</cp:lastModifiedBy>
  <cp:revision>35</cp:revision>
  <dcterms:created xsi:type="dcterms:W3CDTF">2023-11-08T08:55:21Z</dcterms:created>
  <dcterms:modified xsi:type="dcterms:W3CDTF">2024-01-09T12:20:12Z</dcterms:modified>
</cp:coreProperties>
</file>