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E86A3-9E51-51BC-94B7-B40EE995C3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A69820-EBF0-EEB9-7566-EAA0128CD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DE0D4-24E4-72CA-16CD-45DFDC9CF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F7D5-8CA1-4183-AAB7-9CF1CE1D8590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BEA98-A762-49BF-A7D9-0455529DE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3301D-3C66-7693-8274-BEE864B7E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975E-F19F-47A6-A309-7BA867C6A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51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7791E-9A5D-821B-C5A4-D97197A1D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0ACC3-F45A-7D80-ABF3-A81E7042F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256B7-0268-B4C0-E699-5F18F6860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F7D5-8CA1-4183-AAB7-9CF1CE1D8590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BDEA4-034F-B94F-1B75-687609B4F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30237-9A2F-0372-E858-52B16FAD0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975E-F19F-47A6-A309-7BA867C6A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254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AEE6F-9FE3-70B3-BE22-DB78B26FE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70469-005A-BA18-0EF7-09793ABB5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9A73E-87AB-E5A3-EB25-E810BBBC2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F7D5-8CA1-4183-AAB7-9CF1CE1D8590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12B39-4733-C980-B80A-C3CDAE49C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C8911-E885-D3EF-8FB7-7153DAA05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975E-F19F-47A6-A309-7BA867C6A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25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30143-BCF8-C120-A838-2184FC1D7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360E2-18A1-EC76-CA75-B76EE4B151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700371-DCD9-9380-CD29-88E041140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12B021-6036-E8AD-11F6-98BFEC5F8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F7D5-8CA1-4183-AAB7-9CF1CE1D8590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515B2-9C6C-0EB5-C66A-8F9BE63F7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9BB62-DB1F-95FA-7D5B-C85AC7679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975E-F19F-47A6-A309-7BA867C6A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406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ADCC8-932F-903D-93A4-39084237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74804-91D4-D1F8-E9B4-B1C69A653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36CBE-3D1F-9890-436B-B9DE9B38C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60BF76-78D6-F5CD-905D-25FE7D29E2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F14A73-836A-BE65-8ABF-22B1038561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A91E8F-CE33-E2BB-1DC8-7124AF2FD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F7D5-8CA1-4183-AAB7-9CF1CE1D8590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8C164-86AD-8ADB-7D71-FC672430E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C52972-2376-6EC2-9DC2-78C58B0E5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975E-F19F-47A6-A309-7BA867C6A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096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24C76-FD0A-A7CB-32CF-C58BA1B3C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007B5B-8923-3A9E-5949-20AEDF9E5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F7D5-8CA1-4183-AAB7-9CF1CE1D8590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CECAA-A0B2-7059-D5F6-C2954079C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9CE2AB-E703-80F2-2C71-B5CE9B993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975E-F19F-47A6-A309-7BA867C6A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6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DC09B5-350F-6D6B-3124-3651A6588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F7D5-8CA1-4183-AAB7-9CF1CE1D8590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7F2A4E-2861-5B6A-A3F7-47E786BD8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C800E-81B4-AB1A-D0B3-2DDACA94F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975E-F19F-47A6-A309-7BA867C6A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02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A9558-92D9-7643-382C-635E7B081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4BD81-0537-E692-F9BD-E7E5527A6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8DBB5-31E1-8AE0-C6FD-570BC4065E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A2735A-2B13-48BB-7781-8B34AE643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F7D5-8CA1-4183-AAB7-9CF1CE1D8590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D64E2C-FD6E-333E-FCFE-B8618F2D4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514F28-55CE-D7AB-77E3-05306897D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975E-F19F-47A6-A309-7BA867C6A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38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05FF-B735-E561-4664-5F70D23B8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CDACF4-03FC-6790-D776-1FEC853018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F9E3B6-9F92-F958-4B70-90A0547E0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68ACD5-5DDE-ECD1-7853-17AA77DB0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F7D5-8CA1-4183-AAB7-9CF1CE1D8590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2D7567-F5DE-09CF-E647-28CBF0502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93880-7A74-E4CF-8721-3C6252F24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975E-F19F-47A6-A309-7BA867C6A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3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4E8A9-DC13-E8C9-2BF3-5952294FD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92CDFC-7517-875C-E5D7-2B4AE8D4D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6384B-20DA-D531-69B2-A15878D35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F7D5-8CA1-4183-AAB7-9CF1CE1D8590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04813-CB76-43D3-755B-C77CB7D2C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AD2B7-9EBF-11FE-5694-6B029A0C9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975E-F19F-47A6-A309-7BA867C6A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84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59A5DD-6059-36E0-8858-E802B0A0E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65D5F6-A709-541B-6C07-867F21C70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6F71A-273F-8604-2D71-C2F29B93F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F7D5-8CA1-4183-AAB7-9CF1CE1D8590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ADCB2-E6AD-8822-22DE-FF3435C2E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39D3E-C4E9-D36B-6DD4-C10870770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975E-F19F-47A6-A309-7BA867C6A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21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B4CBB0-9D5B-5339-DEF6-31E08B808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2B528-B2E9-89A1-35AE-1D4B2BB21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6062B-88A6-DEA9-ADE9-3922DB97E6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0F7D5-8CA1-4183-AAB7-9CF1CE1D8590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CBC00-5CAA-A734-FDBD-FB54EE825E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2F024-3069-010C-C97F-88033C8708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B975E-F19F-47A6-A309-7BA867C6A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45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92B437-E66C-1591-DB55-4725FABFB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5559" y="637762"/>
            <a:ext cx="2899568" cy="5576770"/>
          </a:xfrm>
        </p:spPr>
        <p:txBody>
          <a:bodyPr anchor="ctr">
            <a:normAutofit/>
          </a:bodyPr>
          <a:lstStyle/>
          <a:p>
            <a:pPr algn="l"/>
            <a:r>
              <a:rPr lang="en-US" sz="4100">
                <a:solidFill>
                  <a:schemeClr val="bg1"/>
                </a:solidFill>
              </a:rPr>
              <a:t>Correlations</a:t>
            </a:r>
            <a:br>
              <a:rPr lang="en-US" sz="4100">
                <a:solidFill>
                  <a:schemeClr val="bg1"/>
                </a:solidFill>
              </a:rPr>
            </a:br>
            <a:endParaRPr lang="en-US" sz="4100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594420-7BE3-570F-B47F-FD950FF30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44775" y="637762"/>
            <a:ext cx="5600580" cy="557677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Calibri (Body)"/>
              </a:rPr>
              <a:t>Spearman correlation was used on 3 target columns </a:t>
            </a:r>
            <a:r>
              <a:rPr lang="en-US" b="0" dirty="0">
                <a:effectLst/>
                <a:latin typeface="Calibri (Body)"/>
              </a:rPr>
              <a:t>'city </a:t>
            </a:r>
            <a:r>
              <a:rPr lang="en-US" b="0" dirty="0" err="1">
                <a:effectLst/>
                <a:latin typeface="Calibri (Body)"/>
              </a:rPr>
              <a:t>rank','Distance</a:t>
            </a:r>
            <a:r>
              <a:rPr lang="en-US" b="0" dirty="0">
                <a:effectLst/>
                <a:latin typeface="Calibri (Body)"/>
              </a:rPr>
              <a:t> from </a:t>
            </a:r>
            <a:r>
              <a:rPr lang="en-US" b="0" dirty="0" err="1">
                <a:effectLst/>
                <a:latin typeface="Calibri (Body)"/>
              </a:rPr>
              <a:t>gaza</a:t>
            </a:r>
            <a:r>
              <a:rPr lang="en-US" b="0" dirty="0">
                <a:effectLst/>
                <a:latin typeface="Calibri (Body)"/>
              </a:rPr>
              <a:t>','</a:t>
            </a:r>
            <a:r>
              <a:rPr lang="en-US" b="0" dirty="0" err="1">
                <a:effectLst/>
                <a:latin typeface="Calibri (Body)"/>
              </a:rPr>
              <a:t>hifa_port_dis</a:t>
            </a:r>
            <a:r>
              <a:rPr lang="en-US" b="0" dirty="0">
                <a:effectLst/>
                <a:latin typeface="Calibri (Body)"/>
              </a:rPr>
              <a:t>’ </a:t>
            </a:r>
            <a:endParaRPr lang="en-US" dirty="0">
              <a:latin typeface="Calibri (Body)"/>
            </a:endParaRPr>
          </a:p>
          <a:p>
            <a:pPr algn="l"/>
            <a:r>
              <a:rPr lang="en-US" b="0" dirty="0">
                <a:effectLst/>
                <a:latin typeface="Calibri (Body)"/>
              </a:rPr>
              <a:t>All 3 tests outputs gave a p-value of 0 (rounded </a:t>
            </a:r>
            <a:r>
              <a:rPr lang="en-US" dirty="0">
                <a:latin typeface="Calibri (Body)"/>
              </a:rPr>
              <a:t>up to the 5th decimal point</a:t>
            </a:r>
            <a:r>
              <a:rPr lang="en-US" b="0" dirty="0">
                <a:effectLst/>
                <a:latin typeface="Calibri (Body)"/>
              </a:rPr>
              <a:t>).</a:t>
            </a:r>
          </a:p>
          <a:p>
            <a:pPr algn="l"/>
            <a:r>
              <a:rPr lang="en-US" dirty="0">
                <a:latin typeface="Calibri (Body)"/>
              </a:rPr>
              <a:t>Corresponding rho’s: 0.03, -0.05, 0.1. </a:t>
            </a:r>
            <a:endParaRPr lang="en-US" b="0" dirty="0">
              <a:effectLst/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440537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92B437-E66C-1591-DB55-4725FABFB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5559" y="637762"/>
            <a:ext cx="2899568" cy="5576770"/>
          </a:xfrm>
        </p:spPr>
        <p:txBody>
          <a:bodyPr anchor="ctr">
            <a:normAutofit/>
          </a:bodyPr>
          <a:lstStyle/>
          <a:p>
            <a:pPr algn="l"/>
            <a:r>
              <a:rPr lang="en-US" sz="4100">
                <a:solidFill>
                  <a:schemeClr val="bg1"/>
                </a:solidFill>
              </a:rPr>
              <a:t>Correlations</a:t>
            </a:r>
            <a:br>
              <a:rPr lang="en-US" sz="4100">
                <a:solidFill>
                  <a:schemeClr val="bg1"/>
                </a:solidFill>
              </a:rPr>
            </a:br>
            <a:endParaRPr lang="en-US" sz="4100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225014-9CC0-14D3-17C5-F28D70D05259}"/>
              </a:ext>
            </a:extLst>
          </p:cNvPr>
          <p:cNvSpPr txBox="1"/>
          <p:nvPr/>
        </p:nvSpPr>
        <p:spPr>
          <a:xfrm>
            <a:off x="5530645" y="1047135"/>
            <a:ext cx="52356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Further correlations were tested whilst taking into consideration the date time, each time in a different scenario: wintertime, summer vacation and Eilat area.</a:t>
            </a:r>
          </a:p>
          <a:p>
            <a:endParaRPr lang="en-US" dirty="0"/>
          </a:p>
          <a:p>
            <a:r>
              <a:rPr lang="en-US" dirty="0"/>
              <a:t>All 3 tests resulted in a p-value of approximately 0.</a:t>
            </a:r>
          </a:p>
          <a:p>
            <a:r>
              <a:rPr lang="en-US" dirty="0"/>
              <a:t>Corresponding rho’s: 0.10,0.06,0.18</a:t>
            </a:r>
          </a:p>
        </p:txBody>
      </p:sp>
    </p:spTree>
    <p:extLst>
      <p:ext uri="{BB962C8B-B14F-4D97-AF65-F5344CB8AC3E}">
        <p14:creationId xmlns:p14="http://schemas.microsoft.com/office/powerpoint/2010/main" val="167273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12191990" cy="301850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190E84-1F12-E20E-DFA8-9561053EA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2138263"/>
          </a:xfrm>
        </p:spPr>
        <p:txBody>
          <a:bodyPr anchor="b">
            <a:norm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two sided tests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18502"/>
            <a:ext cx="12191990" cy="38856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3341147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25963-A298-CB74-AB96-416776BF2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39" y="3551567"/>
            <a:ext cx="9889802" cy="26629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Since the data was proven to be not normally distributed, a two-sided Wilcoxson test was used.</a:t>
            </a:r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51300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C667D0-989F-639B-4D5D-4B40E50A1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82CAD-7626-24C9-8F32-2E374E7E4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 dirty="0"/>
              <a:t> key columns were tested against the target, such as ‘bathing season’ , winter’ ,‘military’.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CDFBB7-742B-7A27-1D78-F7CD530B9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913899"/>
              </p:ext>
            </p:extLst>
          </p:nvPr>
        </p:nvGraphicFramePr>
        <p:xfrm>
          <a:off x="368700" y="3215322"/>
          <a:ext cx="11454587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5019">
                  <a:extLst>
                    <a:ext uri="{9D8B030D-6E8A-4147-A177-3AD203B41FA5}">
                      <a16:colId xmlns:a16="http://schemas.microsoft.com/office/drawing/2014/main" val="117742938"/>
                    </a:ext>
                  </a:extLst>
                </a:gridCol>
                <a:gridCol w="3482578">
                  <a:extLst>
                    <a:ext uri="{9D8B030D-6E8A-4147-A177-3AD203B41FA5}">
                      <a16:colId xmlns:a16="http://schemas.microsoft.com/office/drawing/2014/main" val="3107128215"/>
                    </a:ext>
                  </a:extLst>
                </a:gridCol>
                <a:gridCol w="4015619">
                  <a:extLst>
                    <a:ext uri="{9D8B030D-6E8A-4147-A177-3AD203B41FA5}">
                      <a16:colId xmlns:a16="http://schemas.microsoft.com/office/drawing/2014/main" val="4113882395"/>
                    </a:ext>
                  </a:extLst>
                </a:gridCol>
                <a:gridCol w="1581371">
                  <a:extLst>
                    <a:ext uri="{9D8B030D-6E8A-4147-A177-3AD203B41FA5}">
                      <a16:colId xmlns:a16="http://schemas.microsoft.com/office/drawing/2014/main" val="3017124678"/>
                    </a:ext>
                  </a:extLst>
                </a:gridCol>
              </a:tblGrid>
              <a:tr h="189605">
                <a:tc>
                  <a:txBody>
                    <a:bodyPr/>
                    <a:lstStyle/>
                    <a:p>
                      <a:r>
                        <a:rPr lang="en-US" dirty="0"/>
                        <a:t>Feature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Positive group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negative group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127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Bathing_season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Std:0.978,mean:3.775,median:4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Std:1.009,mean:3.810,median:4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636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Summer_vacation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Std:0.974,mean:3.763,median:4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Std:0.994,mean:3.794,median:4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027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Std:0.987,mean:3.911,median:4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Std:0.989,mean:3.767,median:4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538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Std:0.969,mean:3.618,median:4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Std:0.991,mean:3.833,median:4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1906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Military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Std:0.866,mean:4.097,median:4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Std:0.991,mean:3.785,median:4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542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winter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Std:1.017,mean:3.771,median:4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Std:0.982,mean:3.793,median:4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90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962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C667D0-989F-639B-4D5D-4B40E50A1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3E7E10-04EB-9572-054C-5191252766FC}"/>
              </a:ext>
            </a:extLst>
          </p:cNvPr>
          <p:cNvSpPr txBox="1"/>
          <p:nvPr/>
        </p:nvSpPr>
        <p:spPr>
          <a:xfrm>
            <a:off x="752168" y="2147442"/>
            <a:ext cx="90407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Another test compared the different areas.</a:t>
            </a:r>
          </a:p>
          <a:p>
            <a:endParaRPr lang="en-US" sz="1800" dirty="0"/>
          </a:p>
          <a:p>
            <a:r>
              <a:rPr lang="en-US" b="0" i="0" dirty="0">
                <a:effectLst/>
                <a:latin typeface="Consolas" panose="020B0609020204030204" pitchFamily="49" charset="0"/>
              </a:rPr>
              <a:t>North: std=0.997, mean=3.675, median=4.0000</a:t>
            </a:r>
          </a:p>
          <a:p>
            <a:r>
              <a:rPr lang="en-US" b="0" i="0" dirty="0">
                <a:effectLst/>
                <a:latin typeface="Consolas" panose="020B0609020204030204" pitchFamily="49" charset="0"/>
              </a:rPr>
              <a:t>Center: std=0.938, mean=3.918, median=4.0000 </a:t>
            </a:r>
          </a:p>
          <a:p>
            <a:r>
              <a:rPr lang="en-US" b="0" i="0" dirty="0">
                <a:effectLst/>
                <a:latin typeface="Consolas" panose="020B0609020204030204" pitchFamily="49" charset="0"/>
              </a:rPr>
              <a:t>Eilat: std=0.934, mean=4.257, median=4.0000 </a:t>
            </a:r>
          </a:p>
          <a:p>
            <a:r>
              <a:rPr lang="en-US" b="0" i="0" dirty="0">
                <a:effectLst/>
                <a:latin typeface="Consolas" panose="020B0609020204030204" pitchFamily="49" charset="0"/>
              </a:rPr>
              <a:t>South: std=0.998, mean=3.690, median=4.0000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Every test , expect the North vs South beaches have shown statistical significance, with p-values of approximately 0.</a:t>
            </a:r>
          </a:p>
        </p:txBody>
      </p:sp>
    </p:spTree>
    <p:extLst>
      <p:ext uri="{BB962C8B-B14F-4D97-AF65-F5344CB8AC3E}">
        <p14:creationId xmlns:p14="http://schemas.microsoft.com/office/powerpoint/2010/main" val="3472700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C667D0-989F-639B-4D5D-4B40E50A1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Conclusions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3E7E10-04EB-9572-054C-5191252766FC}"/>
              </a:ext>
            </a:extLst>
          </p:cNvPr>
          <p:cNvSpPr txBox="1"/>
          <p:nvPr/>
        </p:nvSpPr>
        <p:spPr>
          <a:xfrm>
            <a:off x="752168" y="2147442"/>
            <a:ext cx="904076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onsolas" panose="020B0609020204030204" pitchFamily="49" charset="0"/>
              </a:rPr>
              <a:t>Features like bathing season, nature and military among others affect the target, expect for the ‘rain’ feature which didn’t show statistical significance.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onsolas" panose="020B0609020204030204" pitchFamily="49" charset="0"/>
              </a:rPr>
              <a:t>There is a difference in beaches cleanliness between coasts in different areas, expect the Northern and Southern coasts.</a:t>
            </a:r>
          </a:p>
        </p:txBody>
      </p:sp>
    </p:spTree>
    <p:extLst>
      <p:ext uri="{BB962C8B-B14F-4D97-AF65-F5344CB8AC3E}">
        <p14:creationId xmlns:p14="http://schemas.microsoft.com/office/powerpoint/2010/main" val="157750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5028</TotalTime>
  <Words>423</Words>
  <Application>Microsoft Office PowerPoint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(Body)</vt:lpstr>
      <vt:lpstr>Calibri Light</vt:lpstr>
      <vt:lpstr>Consolas</vt:lpstr>
      <vt:lpstr>Office Theme</vt:lpstr>
      <vt:lpstr>Correlations </vt:lpstr>
      <vt:lpstr>Correlations </vt:lpstr>
      <vt:lpstr>two sided tests</vt:lpstr>
      <vt:lpstr>Results</vt:lpstr>
      <vt:lpstr>Results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Correlations </dc:title>
  <dc:creator>ליאב כהן</dc:creator>
  <cp:lastModifiedBy>ליאב כהן</cp:lastModifiedBy>
  <cp:revision>22</cp:revision>
  <dcterms:created xsi:type="dcterms:W3CDTF">2023-11-08T08:55:21Z</dcterms:created>
  <dcterms:modified xsi:type="dcterms:W3CDTF">2023-11-27T09:52:58Z</dcterms:modified>
</cp:coreProperties>
</file>